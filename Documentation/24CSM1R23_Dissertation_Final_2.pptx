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0" r:id="rId22"/>
    <p:sldId id="275" r:id="rId23"/>
    <p:sldId id="276" r:id="rId24"/>
    <p:sldId id="277" r:id="rId25"/>
    <p:sldId id="278" r:id="rId26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Hanken Grotesk" panose="020B0604020202020204" charset="0"/>
      <p:regular r:id="rId33"/>
      <p:bold r:id="rId34"/>
      <p:italic r:id="rId35"/>
      <p:boldItalic r:id="rId36"/>
    </p:embeddedFont>
    <p:embeddedFont>
      <p:font typeface="Lexend" panose="020B0604020202020204" charset="0"/>
      <p:regular r:id="rId37"/>
      <p:bold r:id="rId38"/>
    </p:embeddedFont>
    <p:embeddedFont>
      <p:font typeface="Lexend Light" panose="020B0604020202020204" charset="0"/>
      <p:regular r:id="rId39"/>
      <p:bold r:id="rId40"/>
    </p:embeddedFont>
    <p:embeddedFont>
      <p:font typeface="Lexend SemiBold" panose="020B0604020202020204" charset="0"/>
      <p:regular r:id="rId41"/>
      <p:bold r:id="rId42"/>
    </p:embeddedFont>
    <p:embeddedFont>
      <p:font typeface="Work Sans SemiBold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B28E6-07B8-43B4-94E9-65CDF57FDC44}">
  <a:tblStyle styleId="{08DB28E6-07B8-43B4-94E9-65CDF57FDC4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351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187ccf0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g38187ccf0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187ccf0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g38187ccf0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8187ccf03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g38187ccf03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187ccf03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g38187ccf03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9512a57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3809512a57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187ccf0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g38187ccf0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187ccf03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g38187ccf03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187ccf03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8187ccf03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187ccf03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g38187ccf03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8187ccf03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g38187ccf03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8187ccf034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8" name="Google Shape;658;g38187ccf034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0827013A-B592-5DA2-B8D0-D28051EB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>
            <a:extLst>
              <a:ext uri="{FF2B5EF4-FFF2-40B4-BE49-F238E27FC236}">
                <a16:creationId xmlns:a16="http://schemas.microsoft.com/office/drawing/2014/main" id="{58C8A10E-4A28-DB16-D3B4-2E4E6C8C9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>
            <a:extLst>
              <a:ext uri="{FF2B5EF4-FFF2-40B4-BE49-F238E27FC236}">
                <a16:creationId xmlns:a16="http://schemas.microsoft.com/office/drawing/2014/main" id="{7F07544C-CF3F-480B-2134-2F3A00556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874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24DD6FC8-7BFC-55F4-657F-5317469E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>
            <a:extLst>
              <a:ext uri="{FF2B5EF4-FFF2-40B4-BE49-F238E27FC236}">
                <a16:creationId xmlns:a16="http://schemas.microsoft.com/office/drawing/2014/main" id="{8F11D985-0867-6716-34FE-A0499DEB6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>
            <a:extLst>
              <a:ext uri="{FF2B5EF4-FFF2-40B4-BE49-F238E27FC236}">
                <a16:creationId xmlns:a16="http://schemas.microsoft.com/office/drawing/2014/main" id="{F93DE961-0D71-1F0B-CC49-C1E909F6A3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4279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187ccf03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g38187ccf03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8187ccf03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g38187ccf03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187ccf03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3" name="Google Shape;693;g38187ccf03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58800" y="1170000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658800" y="1717200"/>
            <a:ext cx="6364800" cy="2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022926" y="747190"/>
            <a:ext cx="2121000" cy="211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272518" y="3"/>
            <a:ext cx="750600" cy="74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0" y="4488238"/>
            <a:ext cx="657900" cy="6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SECTION_TITLE_AND_DESCRI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 rot="10800000">
            <a:off x="7149000" y="3157200"/>
            <a:ext cx="1465200" cy="145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8614199" y="4615801"/>
            <a:ext cx="529800" cy="52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 rot="10800000">
            <a:off x="445974" y="1"/>
            <a:ext cx="529800" cy="527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CAPTION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5234400" y="0"/>
            <a:ext cx="3909600" cy="514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Google Shape;26;p4"/>
          <p:cNvSpPr/>
          <p:nvPr/>
        </p:nvSpPr>
        <p:spPr>
          <a:xfrm>
            <a:off x="44580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21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448575" y="1277400"/>
            <a:ext cx="1827000" cy="11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cxnSp>
        <p:nvCxnSpPr>
          <p:cNvPr id="34" name="Google Shape;34;p5"/>
          <p:cNvCxnSpPr/>
          <p:nvPr/>
        </p:nvCxnSpPr>
        <p:spPr>
          <a:xfrm>
            <a:off x="2792132" y="2485581"/>
            <a:ext cx="5966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5"/>
          <p:cNvSpPr/>
          <p:nvPr/>
        </p:nvSpPr>
        <p:spPr>
          <a:xfrm>
            <a:off x="2578025" y="4009976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" y="737580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2793600" y="414000"/>
            <a:ext cx="5965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732400" y="12528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2732400" y="16524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2732400" y="27540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5"/>
          </p:nvPr>
        </p:nvSpPr>
        <p:spPr>
          <a:xfrm>
            <a:off x="2732400" y="31536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448575" y="2754000"/>
            <a:ext cx="1827000" cy="11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694800" y="604800"/>
            <a:ext cx="7336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7056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33660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3"/>
          </p:nvPr>
        </p:nvSpPr>
        <p:spPr>
          <a:xfrm>
            <a:off x="60228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209077" y="816633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-12"/>
            <a:ext cx="657900" cy="65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4572000" y="1746000"/>
            <a:ext cx="3636000" cy="339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658800" y="817200"/>
            <a:ext cx="37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658800" y="1746925"/>
            <a:ext cx="37404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1363325"/>
            <a:ext cx="354000" cy="12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0" y="3154375"/>
            <a:ext cx="354000" cy="12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7773919" y="2"/>
            <a:ext cx="1370100" cy="136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957600" y="691200"/>
            <a:ext cx="7225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1"/>
          </p:nvPr>
        </p:nvSpPr>
        <p:spPr>
          <a:xfrm>
            <a:off x="957600" y="13572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2"/>
          </p:nvPr>
        </p:nvSpPr>
        <p:spPr>
          <a:xfrm>
            <a:off x="957600" y="18360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1025997" y="2910595"/>
            <a:ext cx="709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8"/>
          <p:cNvSpPr txBox="1">
            <a:spLocks noGrp="1"/>
          </p:cNvSpPr>
          <p:nvPr>
            <p:ph type="subTitle" idx="3"/>
          </p:nvPr>
        </p:nvSpPr>
        <p:spPr>
          <a:xfrm>
            <a:off x="957600" y="31536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4"/>
          </p:nvPr>
        </p:nvSpPr>
        <p:spPr>
          <a:xfrm>
            <a:off x="957600" y="36324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5820900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6992701" y="31841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5716800" y="1047600"/>
            <a:ext cx="3088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3494913" y="1359650"/>
            <a:ext cx="0" cy="259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9"/>
          <p:cNvSpPr/>
          <p:nvPr/>
        </p:nvSpPr>
        <p:spPr>
          <a:xfrm>
            <a:off x="1495825" y="1274852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3776475" y="1274852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1411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2"/>
          </p:nvPr>
        </p:nvSpPr>
        <p:spPr>
          <a:xfrm>
            <a:off x="1411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3"/>
          </p:nvPr>
        </p:nvSpPr>
        <p:spPr>
          <a:xfrm>
            <a:off x="3697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4"/>
          </p:nvPr>
        </p:nvSpPr>
        <p:spPr>
          <a:xfrm>
            <a:off x="3697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39493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64427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42906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7840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35600" y="1274400"/>
            <a:ext cx="3250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ubTitle" idx="1"/>
          </p:nvPr>
        </p:nvSpPr>
        <p:spPr>
          <a:xfrm>
            <a:off x="41940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41940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3"/>
          </p:nvPr>
        </p:nvSpPr>
        <p:spPr>
          <a:xfrm>
            <a:off x="66888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4"/>
          </p:nvPr>
        </p:nvSpPr>
        <p:spPr>
          <a:xfrm>
            <a:off x="66888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>
            <a:spLocks noGrp="1"/>
          </p:cNvSpPr>
          <p:nvPr>
            <p:ph type="pic" idx="2"/>
          </p:nvPr>
        </p:nvSpPr>
        <p:spPr>
          <a:xfrm>
            <a:off x="363600" y="356400"/>
            <a:ext cx="2239200" cy="2239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 rot="10800000">
            <a:off x="2603000" y="2595275"/>
            <a:ext cx="1160100" cy="115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1991300" y="3750075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/>
          </p:nvPr>
        </p:nvSpPr>
        <p:spPr>
          <a:xfrm>
            <a:off x="3913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1"/>
          </p:nvPr>
        </p:nvSpPr>
        <p:spPr>
          <a:xfrm>
            <a:off x="3913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0" y="1441075"/>
            <a:ext cx="8780400" cy="370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 rot="10800000">
            <a:off x="50" y="4032550"/>
            <a:ext cx="1116000" cy="111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/>
          <p:nvPr/>
        </p:nvSpPr>
        <p:spPr>
          <a:xfrm rot="10800000">
            <a:off x="8780225" y="1061875"/>
            <a:ext cx="381300" cy="3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>
            <a:spLocks noGrp="1"/>
          </p:cNvSpPr>
          <p:nvPr>
            <p:ph type="title"/>
          </p:nvPr>
        </p:nvSpPr>
        <p:spPr>
          <a:xfrm>
            <a:off x="385200" y="406800"/>
            <a:ext cx="80136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"/>
          </p:nvPr>
        </p:nvSpPr>
        <p:spPr>
          <a:xfrm>
            <a:off x="381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2"/>
          </p:nvPr>
        </p:nvSpPr>
        <p:spPr>
          <a:xfrm>
            <a:off x="381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3"/>
          </p:nvPr>
        </p:nvSpPr>
        <p:spPr>
          <a:xfrm>
            <a:off x="3225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body" idx="4"/>
          </p:nvPr>
        </p:nvSpPr>
        <p:spPr>
          <a:xfrm>
            <a:off x="3225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subTitle" idx="5"/>
          </p:nvPr>
        </p:nvSpPr>
        <p:spPr>
          <a:xfrm>
            <a:off x="60624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6"/>
          </p:nvPr>
        </p:nvSpPr>
        <p:spPr>
          <a:xfrm>
            <a:off x="60624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CUSTOM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13"/>
          <p:cNvCxnSpPr/>
          <p:nvPr/>
        </p:nvCxnSpPr>
        <p:spPr>
          <a:xfrm>
            <a:off x="4147138" y="1453875"/>
            <a:ext cx="0" cy="309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3"/>
          <p:cNvSpPr/>
          <p:nvPr/>
        </p:nvSpPr>
        <p:spPr>
          <a:xfrm>
            <a:off x="2065050" y="1571477"/>
            <a:ext cx="187800" cy="18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372550" y="1571477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683725" y="1571477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>
            <a:off x="6458288" y="1453875"/>
            <a:ext cx="0" cy="309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13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19800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body" idx="2"/>
          </p:nvPr>
        </p:nvSpPr>
        <p:spPr>
          <a:xfrm>
            <a:off x="19800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42912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4"/>
          </p:nvPr>
        </p:nvSpPr>
        <p:spPr>
          <a:xfrm>
            <a:off x="42912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5"/>
          </p:nvPr>
        </p:nvSpPr>
        <p:spPr>
          <a:xfrm>
            <a:off x="66024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6"/>
          </p:nvPr>
        </p:nvSpPr>
        <p:spPr>
          <a:xfrm>
            <a:off x="66024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1980000" y="565200"/>
            <a:ext cx="6642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">
  <p:cSld name="CUSTOM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7949700" cy="482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14488" y="60277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14475" y="196770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14488" y="333832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949700" y="4829701"/>
            <a:ext cx="315300" cy="3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156250" y="-1"/>
            <a:ext cx="793500" cy="78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>
            <a:off x="666000" y="500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2"/>
          </p:nvPr>
        </p:nvSpPr>
        <p:spPr>
          <a:xfrm>
            <a:off x="666000" y="1018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3"/>
          </p:nvPr>
        </p:nvSpPr>
        <p:spPr>
          <a:xfrm>
            <a:off x="666000" y="18648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4"/>
          </p:nvPr>
        </p:nvSpPr>
        <p:spPr>
          <a:xfrm>
            <a:off x="666000" y="23832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5"/>
          </p:nvPr>
        </p:nvSpPr>
        <p:spPr>
          <a:xfrm>
            <a:off x="666000" y="3236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6"/>
          </p:nvPr>
        </p:nvSpPr>
        <p:spPr>
          <a:xfrm>
            <a:off x="666000" y="3754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44" name="Google Shape;144;p14"/>
          <p:cNvCxnSpPr/>
          <p:nvPr/>
        </p:nvCxnSpPr>
        <p:spPr>
          <a:xfrm rot="10800000">
            <a:off x="384525" y="1728450"/>
            <a:ext cx="720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14"/>
          <p:cNvCxnSpPr/>
          <p:nvPr/>
        </p:nvCxnSpPr>
        <p:spPr>
          <a:xfrm rot="10800000">
            <a:off x="383581" y="3084600"/>
            <a:ext cx="720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 rot="5400000">
            <a:off x="6312000" y="2248800"/>
            <a:ext cx="45540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CUSTOM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15"/>
          <p:cNvCxnSpPr/>
          <p:nvPr/>
        </p:nvCxnSpPr>
        <p:spPr>
          <a:xfrm>
            <a:off x="3383350" y="1008313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15"/>
          <p:cNvSpPr/>
          <p:nvPr/>
        </p:nvSpPr>
        <p:spPr>
          <a:xfrm>
            <a:off x="1433389" y="940757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591740" y="940757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728363" y="940757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5519950" y="1008313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15"/>
          <p:cNvSpPr txBox="1">
            <a:spLocks noGrp="1"/>
          </p:cNvSpPr>
          <p:nvPr>
            <p:ph type="subTitle" idx="1"/>
          </p:nvPr>
        </p:nvSpPr>
        <p:spPr>
          <a:xfrm>
            <a:off x="13806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13806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subTitle" idx="3"/>
          </p:nvPr>
        </p:nvSpPr>
        <p:spPr>
          <a:xfrm>
            <a:off x="35190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4"/>
          </p:nvPr>
        </p:nvSpPr>
        <p:spPr>
          <a:xfrm>
            <a:off x="35190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5"/>
          </p:nvPr>
        </p:nvSpPr>
        <p:spPr>
          <a:xfrm>
            <a:off x="56538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6"/>
          </p:nvPr>
        </p:nvSpPr>
        <p:spPr>
          <a:xfrm>
            <a:off x="56538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1351800" y="299088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>
            <a:spLocks noGrp="1"/>
          </p:cNvSpPr>
          <p:nvPr>
            <p:ph type="pic" idx="7"/>
          </p:nvPr>
        </p:nvSpPr>
        <p:spPr>
          <a:xfrm>
            <a:off x="16071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5"/>
          <p:cNvSpPr>
            <a:spLocks noGrp="1"/>
          </p:cNvSpPr>
          <p:nvPr>
            <p:ph type="pic" idx="8"/>
          </p:nvPr>
        </p:nvSpPr>
        <p:spPr>
          <a:xfrm>
            <a:off x="37455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>
            <a:spLocks noGrp="1"/>
          </p:cNvSpPr>
          <p:nvPr>
            <p:ph type="pic" idx="9"/>
          </p:nvPr>
        </p:nvSpPr>
        <p:spPr>
          <a:xfrm>
            <a:off x="58803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USTOM_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1765325"/>
            <a:ext cx="9187200" cy="3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50" y="25"/>
            <a:ext cx="809400" cy="80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09550" y="805825"/>
            <a:ext cx="320700" cy="31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1"/>
          </p:nvPr>
        </p:nvSpPr>
        <p:spPr>
          <a:xfrm>
            <a:off x="352800" y="3117600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2"/>
          </p:nvPr>
        </p:nvSpPr>
        <p:spPr>
          <a:xfrm>
            <a:off x="352800" y="3708475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/>
          <p:nvPr/>
        </p:nvSpPr>
        <p:spPr>
          <a:xfrm rot="10800000">
            <a:off x="471300" y="2712924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2574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4"/>
          </p:nvPr>
        </p:nvSpPr>
        <p:spPr>
          <a:xfrm>
            <a:off x="2574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16"/>
          <p:cNvSpPr/>
          <p:nvPr/>
        </p:nvSpPr>
        <p:spPr>
          <a:xfrm rot="10800000">
            <a:off x="26756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5"/>
          </p:nvPr>
        </p:nvSpPr>
        <p:spPr>
          <a:xfrm>
            <a:off x="4788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6"/>
          </p:nvPr>
        </p:nvSpPr>
        <p:spPr>
          <a:xfrm>
            <a:off x="4788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6"/>
          <p:cNvSpPr/>
          <p:nvPr/>
        </p:nvSpPr>
        <p:spPr>
          <a:xfrm rot="10800000">
            <a:off x="48799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7"/>
          </p:nvPr>
        </p:nvSpPr>
        <p:spPr>
          <a:xfrm>
            <a:off x="7002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8"/>
          </p:nvPr>
        </p:nvSpPr>
        <p:spPr>
          <a:xfrm>
            <a:off x="7002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/>
          <p:nvPr/>
        </p:nvSpPr>
        <p:spPr>
          <a:xfrm rot="10800000">
            <a:off x="70842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370800" y="774000"/>
            <a:ext cx="8406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CUSTOM_4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33483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 rot="10800000">
            <a:off x="33483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0431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 rot="10800000">
            <a:off x="250431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67378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 rot="10800000">
            <a:off x="467378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84326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 rot="10800000">
            <a:off x="684326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 rot="10800000">
            <a:off x="7496775" y="242838"/>
            <a:ext cx="1291200" cy="123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 rot="10800000">
            <a:off x="6843285" y="1476138"/>
            <a:ext cx="653400" cy="65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0862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57810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74757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91705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1"/>
          </p:nvPr>
        </p:nvSpPr>
        <p:spPr>
          <a:xfrm>
            <a:off x="468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2"/>
          </p:nvPr>
        </p:nvSpPr>
        <p:spPr>
          <a:xfrm>
            <a:off x="468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3"/>
          </p:nvPr>
        </p:nvSpPr>
        <p:spPr>
          <a:xfrm>
            <a:off x="26352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4"/>
          </p:nvPr>
        </p:nvSpPr>
        <p:spPr>
          <a:xfrm>
            <a:off x="26352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5"/>
          </p:nvPr>
        </p:nvSpPr>
        <p:spPr>
          <a:xfrm>
            <a:off x="4806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6"/>
          </p:nvPr>
        </p:nvSpPr>
        <p:spPr>
          <a:xfrm>
            <a:off x="4806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7"/>
          </p:nvPr>
        </p:nvSpPr>
        <p:spPr>
          <a:xfrm>
            <a:off x="69768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body" idx="8"/>
          </p:nvPr>
        </p:nvSpPr>
        <p:spPr>
          <a:xfrm>
            <a:off x="69768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title"/>
          </p:nvPr>
        </p:nvSpPr>
        <p:spPr>
          <a:xfrm>
            <a:off x="370800" y="727200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1">
  <p:cSld name="CUSTOM_5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1287000" y="1265975"/>
            <a:ext cx="6289200" cy="316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711039" y="1957095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704190" y="1957095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759988" y="1957095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1"/>
          </p:nvPr>
        </p:nvSpPr>
        <p:spPr>
          <a:xfrm>
            <a:off x="162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body" idx="2"/>
          </p:nvPr>
        </p:nvSpPr>
        <p:spPr>
          <a:xfrm>
            <a:off x="162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3"/>
          </p:nvPr>
        </p:nvSpPr>
        <p:spPr>
          <a:xfrm>
            <a:off x="360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body" idx="4"/>
          </p:nvPr>
        </p:nvSpPr>
        <p:spPr>
          <a:xfrm>
            <a:off x="360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5"/>
          </p:nvPr>
        </p:nvSpPr>
        <p:spPr>
          <a:xfrm>
            <a:off x="567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body" idx="6"/>
          </p:nvPr>
        </p:nvSpPr>
        <p:spPr>
          <a:xfrm>
            <a:off x="567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title"/>
          </p:nvPr>
        </p:nvSpPr>
        <p:spPr>
          <a:xfrm>
            <a:off x="1288800" y="363600"/>
            <a:ext cx="628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CUSTOM_6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247012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 rot="10800000">
            <a:off x="247011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639600" y="1352852"/>
            <a:ext cx="1965900" cy="288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 rot="10800000">
            <a:off x="4639588" y="1352839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80907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/>
          <p:nvPr/>
        </p:nvSpPr>
        <p:spPr>
          <a:xfrm rot="10800000">
            <a:off x="680906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 rot="10800000">
            <a:off x="1310025" y="1352850"/>
            <a:ext cx="1160100" cy="115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/>
          <p:nvPr/>
        </p:nvSpPr>
        <p:spPr>
          <a:xfrm rot="10800000">
            <a:off x="1034925" y="2507675"/>
            <a:ext cx="275100" cy="27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 rot="10800000">
            <a:off x="0" y="4534500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4390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713375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8285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1"/>
          </p:nvPr>
        </p:nvSpPr>
        <p:spPr>
          <a:xfrm>
            <a:off x="2602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body" idx="2"/>
          </p:nvPr>
        </p:nvSpPr>
        <p:spPr>
          <a:xfrm>
            <a:off x="2602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subTitle" idx="3"/>
          </p:nvPr>
        </p:nvSpPr>
        <p:spPr>
          <a:xfrm>
            <a:off x="47700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body" idx="4"/>
          </p:nvPr>
        </p:nvSpPr>
        <p:spPr>
          <a:xfrm>
            <a:off x="47700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5"/>
          </p:nvPr>
        </p:nvSpPr>
        <p:spPr>
          <a:xfrm>
            <a:off x="6940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body" idx="6"/>
          </p:nvPr>
        </p:nvSpPr>
        <p:spPr>
          <a:xfrm>
            <a:off x="6940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title"/>
          </p:nvPr>
        </p:nvSpPr>
        <p:spPr>
          <a:xfrm>
            <a:off x="2469600" y="565200"/>
            <a:ext cx="63036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1">
  <p:cSld name="CUSTOM_7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0"/>
          <p:cNvCxnSpPr/>
          <p:nvPr/>
        </p:nvCxnSpPr>
        <p:spPr>
          <a:xfrm>
            <a:off x="1079125" y="2172725"/>
            <a:ext cx="7090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20"/>
          <p:cNvSpPr/>
          <p:nvPr/>
        </p:nvSpPr>
        <p:spPr>
          <a:xfrm>
            <a:off x="997405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510430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58505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7008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182801" y="41590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/>
          </p:nvPr>
        </p:nvSpPr>
        <p:spPr>
          <a:xfrm>
            <a:off x="961200" y="1000800"/>
            <a:ext cx="720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subTitle" idx="1"/>
          </p:nvPr>
        </p:nvSpPr>
        <p:spPr>
          <a:xfrm>
            <a:off x="9612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body" idx="2"/>
          </p:nvPr>
        </p:nvSpPr>
        <p:spPr>
          <a:xfrm>
            <a:off x="9612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subTitle" idx="3"/>
          </p:nvPr>
        </p:nvSpPr>
        <p:spPr>
          <a:xfrm>
            <a:off x="34740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body" idx="4"/>
          </p:nvPr>
        </p:nvSpPr>
        <p:spPr>
          <a:xfrm>
            <a:off x="34740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subTitle" idx="5"/>
          </p:nvPr>
        </p:nvSpPr>
        <p:spPr>
          <a:xfrm>
            <a:off x="60228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body" idx="6"/>
          </p:nvPr>
        </p:nvSpPr>
        <p:spPr>
          <a:xfrm>
            <a:off x="60228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8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1"/>
          <p:cNvCxnSpPr/>
          <p:nvPr/>
        </p:nvCxnSpPr>
        <p:spPr>
          <a:xfrm>
            <a:off x="4658925" y="21425"/>
            <a:ext cx="0" cy="51267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21"/>
          <p:cNvSpPr/>
          <p:nvPr/>
        </p:nvSpPr>
        <p:spPr>
          <a:xfrm>
            <a:off x="4565166" y="113755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4544115" y="246734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43875" y="379713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4928400" y="9180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body" idx="2"/>
          </p:nvPr>
        </p:nvSpPr>
        <p:spPr>
          <a:xfrm>
            <a:off x="4928400" y="12852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3"/>
          </p:nvPr>
        </p:nvSpPr>
        <p:spPr>
          <a:xfrm>
            <a:off x="4928400" y="22968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4"/>
          </p:nvPr>
        </p:nvSpPr>
        <p:spPr>
          <a:xfrm>
            <a:off x="4928400" y="26640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5"/>
          </p:nvPr>
        </p:nvSpPr>
        <p:spPr>
          <a:xfrm>
            <a:off x="4928400" y="36756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body" idx="6"/>
          </p:nvPr>
        </p:nvSpPr>
        <p:spPr>
          <a:xfrm>
            <a:off x="4928400" y="40428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482400" y="2314800"/>
            <a:ext cx="347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">
  <p:cSld name="CUSTOM_9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2"/>
          <p:cNvCxnSpPr/>
          <p:nvPr/>
        </p:nvCxnSpPr>
        <p:spPr>
          <a:xfrm>
            <a:off x="-8675" y="2172725"/>
            <a:ext cx="9167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22"/>
          <p:cNvSpPr/>
          <p:nvPr/>
        </p:nvSpPr>
        <p:spPr>
          <a:xfrm>
            <a:off x="223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509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795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081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>
            <a:spLocks noGrp="1"/>
          </p:cNvSpPr>
          <p:nvPr>
            <p:ph type="subTitle" idx="1"/>
          </p:nvPr>
        </p:nvSpPr>
        <p:spPr>
          <a:xfrm>
            <a:off x="223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body" idx="2"/>
          </p:nvPr>
        </p:nvSpPr>
        <p:spPr>
          <a:xfrm>
            <a:off x="223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3"/>
          </p:nvPr>
        </p:nvSpPr>
        <p:spPr>
          <a:xfrm>
            <a:off x="2509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body" idx="4"/>
          </p:nvPr>
        </p:nvSpPr>
        <p:spPr>
          <a:xfrm>
            <a:off x="2509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subTitle" idx="5"/>
          </p:nvPr>
        </p:nvSpPr>
        <p:spPr>
          <a:xfrm>
            <a:off x="4795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body" idx="6"/>
          </p:nvPr>
        </p:nvSpPr>
        <p:spPr>
          <a:xfrm>
            <a:off x="4795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ubTitle" idx="7"/>
          </p:nvPr>
        </p:nvSpPr>
        <p:spPr>
          <a:xfrm>
            <a:off x="7081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body" idx="8"/>
          </p:nvPr>
        </p:nvSpPr>
        <p:spPr>
          <a:xfrm>
            <a:off x="7081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1339225" y="888075"/>
            <a:ext cx="64719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1">
  <p:cSld name="CUSTOM_10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3332075" y="796200"/>
            <a:ext cx="5448900" cy="355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57750" y="0"/>
            <a:ext cx="800100" cy="79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>
            <a:spLocks noGrp="1"/>
          </p:cNvSpPr>
          <p:nvPr>
            <p:ph type="pic" idx="2"/>
          </p:nvPr>
        </p:nvSpPr>
        <p:spPr>
          <a:xfrm>
            <a:off x="957600" y="799200"/>
            <a:ext cx="2894400" cy="28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23"/>
          <p:cNvSpPr/>
          <p:nvPr/>
        </p:nvSpPr>
        <p:spPr>
          <a:xfrm>
            <a:off x="551625" y="3422575"/>
            <a:ext cx="2892600" cy="118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230000" y="1033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230000" y="1717200"/>
            <a:ext cx="43272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subTitle" idx="3"/>
          </p:nvPr>
        </p:nvSpPr>
        <p:spPr>
          <a:xfrm>
            <a:off x="756675" y="3541450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body" idx="4"/>
          </p:nvPr>
        </p:nvSpPr>
        <p:spPr>
          <a:xfrm>
            <a:off x="756675" y="4031807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2">
  <p:cSld name="CUSTOM_1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0" y="-10800"/>
            <a:ext cx="6821400" cy="18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821425" y="3703675"/>
            <a:ext cx="2322600" cy="14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858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 rot="10800000">
            <a:off x="1140600" y="3788549"/>
            <a:ext cx="242400" cy="2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>
            <a:spLocks noGrp="1"/>
          </p:cNvSpPr>
          <p:nvPr>
            <p:ph type="pic" idx="2"/>
          </p:nvPr>
        </p:nvSpPr>
        <p:spPr>
          <a:xfrm>
            <a:off x="6819600" y="-9500"/>
            <a:ext cx="2322600" cy="371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4"/>
          <p:cNvSpPr txBox="1">
            <a:spLocks noGrp="1"/>
          </p:cNvSpPr>
          <p:nvPr>
            <p:ph type="subTitle" idx="1"/>
          </p:nvPr>
        </p:nvSpPr>
        <p:spPr>
          <a:xfrm>
            <a:off x="7014300" y="392596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body" idx="3"/>
          </p:nvPr>
        </p:nvSpPr>
        <p:spPr>
          <a:xfrm>
            <a:off x="7014300" y="443507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title"/>
          </p:nvPr>
        </p:nvSpPr>
        <p:spPr>
          <a:xfrm>
            <a:off x="349200" y="522800"/>
            <a:ext cx="62676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body" idx="4"/>
          </p:nvPr>
        </p:nvSpPr>
        <p:spPr>
          <a:xfrm>
            <a:off x="349200" y="1984575"/>
            <a:ext cx="6267600" cy="29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3">
  <p:cSld name="CUSTOM_12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152100" y="1006800"/>
            <a:ext cx="2132400" cy="121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 rot="10800000">
            <a:off x="1491250" y="3937108"/>
            <a:ext cx="793200" cy="78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/>
          <p:nvPr/>
        </p:nvSpPr>
        <p:spPr>
          <a:xfrm rot="10800000">
            <a:off x="1072974" y="4727100"/>
            <a:ext cx="418200" cy="41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 rot="10800000">
            <a:off x="8133001" y="0"/>
            <a:ext cx="1011000" cy="100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>
            <a:spLocks noGrp="1"/>
          </p:cNvSpPr>
          <p:nvPr>
            <p:ph type="pic" idx="2"/>
          </p:nvPr>
        </p:nvSpPr>
        <p:spPr>
          <a:xfrm>
            <a:off x="2286000" y="2224800"/>
            <a:ext cx="1918800" cy="17136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25"/>
          <p:cNvSpPr txBox="1">
            <a:spLocks noGrp="1"/>
          </p:cNvSpPr>
          <p:nvPr>
            <p:ph type="title"/>
          </p:nvPr>
        </p:nvSpPr>
        <p:spPr>
          <a:xfrm>
            <a:off x="4356000" y="123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5"/>
          <p:cNvSpPr txBox="1">
            <a:spLocks noGrp="1"/>
          </p:cNvSpPr>
          <p:nvPr>
            <p:ph type="body" idx="1"/>
          </p:nvPr>
        </p:nvSpPr>
        <p:spPr>
          <a:xfrm>
            <a:off x="4356000" y="1828800"/>
            <a:ext cx="4327200" cy="20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subTitle" idx="3"/>
          </p:nvPr>
        </p:nvSpPr>
        <p:spPr>
          <a:xfrm>
            <a:off x="251700" y="112318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body" idx="4"/>
          </p:nvPr>
        </p:nvSpPr>
        <p:spPr>
          <a:xfrm>
            <a:off x="251700" y="163230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v1">
  <p:cSld name="CUSTOM_13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6893725" y="2893800"/>
            <a:ext cx="2250900" cy="223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8459400" y="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15800" y="445125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667025" y="4104000"/>
            <a:ext cx="348900" cy="34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>
            <a:spLocks noGrp="1"/>
          </p:cNvSpPr>
          <p:nvPr>
            <p:ph type="pic" idx="2"/>
          </p:nvPr>
        </p:nvSpPr>
        <p:spPr>
          <a:xfrm>
            <a:off x="4701600" y="691200"/>
            <a:ext cx="3758400" cy="375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26"/>
          <p:cNvSpPr txBox="1">
            <a:spLocks noGrp="1"/>
          </p:cNvSpPr>
          <p:nvPr>
            <p:ph type="title"/>
          </p:nvPr>
        </p:nvSpPr>
        <p:spPr>
          <a:xfrm>
            <a:off x="327600" y="69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body" idx="1"/>
          </p:nvPr>
        </p:nvSpPr>
        <p:spPr>
          <a:xfrm>
            <a:off x="439200" y="17352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438446" y="234388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38446" y="321105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6" name="Google Shape;326;p26"/>
          <p:cNvSpPr txBox="1">
            <a:spLocks noGrp="1"/>
          </p:cNvSpPr>
          <p:nvPr>
            <p:ph type="body" idx="3"/>
          </p:nvPr>
        </p:nvSpPr>
        <p:spPr>
          <a:xfrm>
            <a:off x="439200" y="26028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438446" y="1476713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8" name="Google Shape;328;p26"/>
          <p:cNvSpPr txBox="1">
            <a:spLocks noGrp="1"/>
          </p:cNvSpPr>
          <p:nvPr>
            <p:ph type="body" idx="4"/>
          </p:nvPr>
        </p:nvSpPr>
        <p:spPr>
          <a:xfrm>
            <a:off x="439200" y="34704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v2">
  <p:cSld name="CUSTOM_14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/>
          <p:nvPr/>
        </p:nvSpPr>
        <p:spPr>
          <a:xfrm>
            <a:off x="7529401" y="353850"/>
            <a:ext cx="1614600" cy="160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7173980" y="0"/>
            <a:ext cx="355500" cy="35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7"/>
          <p:cNvSpPr>
            <a:spLocks noGrp="1"/>
          </p:cNvSpPr>
          <p:nvPr>
            <p:ph type="pic" idx="2"/>
          </p:nvPr>
        </p:nvSpPr>
        <p:spPr>
          <a:xfrm>
            <a:off x="4334400" y="1962000"/>
            <a:ext cx="3196800" cy="3182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7"/>
          <p:cNvSpPr txBox="1">
            <a:spLocks noGrp="1"/>
          </p:cNvSpPr>
          <p:nvPr>
            <p:ph type="title"/>
          </p:nvPr>
        </p:nvSpPr>
        <p:spPr>
          <a:xfrm>
            <a:off x="4402800" y="918000"/>
            <a:ext cx="3013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516830" y="73005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516830" y="159722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16830" y="246438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516830" y="333155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Address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8" name="Google Shape;338;p27"/>
          <p:cNvSpPr txBox="1">
            <a:spLocks noGrp="1"/>
          </p:cNvSpPr>
          <p:nvPr>
            <p:ph type="body" idx="1"/>
          </p:nvPr>
        </p:nvSpPr>
        <p:spPr>
          <a:xfrm>
            <a:off x="514800" y="9900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3"/>
          </p:nvPr>
        </p:nvSpPr>
        <p:spPr>
          <a:xfrm>
            <a:off x="514800" y="18576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body" idx="4"/>
          </p:nvPr>
        </p:nvSpPr>
        <p:spPr>
          <a:xfrm>
            <a:off x="514800" y="27252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5"/>
          </p:nvPr>
        </p:nvSpPr>
        <p:spPr>
          <a:xfrm>
            <a:off x="514800" y="3589200"/>
            <a:ext cx="33228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15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6877083" y="2876224"/>
            <a:ext cx="1615800" cy="160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61436" y="365681"/>
            <a:ext cx="2036400" cy="202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 txBox="1">
            <a:spLocks noGrp="1"/>
          </p:cNvSpPr>
          <p:nvPr>
            <p:ph type="title"/>
          </p:nvPr>
        </p:nvSpPr>
        <p:spPr>
          <a:xfrm>
            <a:off x="2885325" y="1859425"/>
            <a:ext cx="36462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 txBox="1">
            <a:spLocks noGrp="1"/>
          </p:cNvSpPr>
          <p:nvPr>
            <p:ph type="title" idx="2"/>
          </p:nvPr>
        </p:nvSpPr>
        <p:spPr>
          <a:xfrm>
            <a:off x="2885354" y="2746477"/>
            <a:ext cx="3646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SemiBold"/>
              <a:buNone/>
              <a:defRPr sz="1400" b="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8492822" y="4471946"/>
            <a:ext cx="365400" cy="36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1 ">
  <p:cSld name="CUSTOM_16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4368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480775" y="2045725"/>
            <a:ext cx="4914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subTitle" idx="1"/>
          </p:nvPr>
        </p:nvSpPr>
        <p:spPr>
          <a:xfrm>
            <a:off x="10960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body" idx="2"/>
          </p:nvPr>
        </p:nvSpPr>
        <p:spPr>
          <a:xfrm>
            <a:off x="10960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33197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33198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6" name="Google Shape;356;p29"/>
          <p:cNvSpPr txBox="1">
            <a:spLocks noGrp="1"/>
          </p:cNvSpPr>
          <p:nvPr>
            <p:ph type="subTitle" idx="3"/>
          </p:nvPr>
        </p:nvSpPr>
        <p:spPr>
          <a:xfrm>
            <a:off x="39789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7" name="Google Shape;357;p29"/>
          <p:cNvSpPr txBox="1">
            <a:spLocks noGrp="1"/>
          </p:cNvSpPr>
          <p:nvPr>
            <p:ph type="body" idx="4"/>
          </p:nvPr>
        </p:nvSpPr>
        <p:spPr>
          <a:xfrm>
            <a:off x="39789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62026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62024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0" name="Google Shape;360;p29"/>
          <p:cNvSpPr txBox="1">
            <a:spLocks noGrp="1"/>
          </p:cNvSpPr>
          <p:nvPr>
            <p:ph type="subTitle" idx="5"/>
          </p:nvPr>
        </p:nvSpPr>
        <p:spPr>
          <a:xfrm>
            <a:off x="68618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body" idx="6"/>
          </p:nvPr>
        </p:nvSpPr>
        <p:spPr>
          <a:xfrm>
            <a:off x="68618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29"/>
          <p:cNvSpPr txBox="1">
            <a:spLocks noGrp="1"/>
          </p:cNvSpPr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9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881374" y="-1153"/>
            <a:ext cx="1280400" cy="127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2">
  <p:cSld name="CUSTOM_17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/>
          <p:nvPr/>
        </p:nvSpPr>
        <p:spPr>
          <a:xfrm>
            <a:off x="1362113" y="17623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36227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8" name="Google Shape;368;p30"/>
          <p:cNvSpPr txBox="1">
            <a:spLocks noGrp="1"/>
          </p:cNvSpPr>
          <p:nvPr>
            <p:ph type="subTitle" idx="1"/>
          </p:nvPr>
        </p:nvSpPr>
        <p:spPr>
          <a:xfrm>
            <a:off x="72026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69" name="Google Shape;369;p30"/>
          <p:cNvSpPr txBox="1">
            <a:spLocks noGrp="1"/>
          </p:cNvSpPr>
          <p:nvPr>
            <p:ph type="body" idx="2"/>
          </p:nvPr>
        </p:nvSpPr>
        <p:spPr>
          <a:xfrm>
            <a:off x="72026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4018238" y="1761750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4018400" y="1899463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2" name="Google Shape;372;p30"/>
          <p:cNvSpPr txBox="1">
            <a:spLocks noGrp="1"/>
          </p:cNvSpPr>
          <p:nvPr>
            <p:ph type="subTitle" idx="3"/>
          </p:nvPr>
        </p:nvSpPr>
        <p:spPr>
          <a:xfrm>
            <a:off x="3376388" y="23514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73" name="Google Shape;373;p30"/>
          <p:cNvSpPr txBox="1">
            <a:spLocks noGrp="1"/>
          </p:cNvSpPr>
          <p:nvPr>
            <p:ph type="body" idx="4"/>
          </p:nvPr>
        </p:nvSpPr>
        <p:spPr>
          <a:xfrm>
            <a:off x="3376388" y="29297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6674363" y="1762338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67452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6" name="Google Shape;376;p30"/>
          <p:cNvSpPr txBox="1">
            <a:spLocks noGrp="1"/>
          </p:cNvSpPr>
          <p:nvPr>
            <p:ph type="subTitle" idx="5"/>
          </p:nvPr>
        </p:nvSpPr>
        <p:spPr>
          <a:xfrm>
            <a:off x="603251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77" name="Google Shape;377;p30"/>
          <p:cNvSpPr txBox="1">
            <a:spLocks noGrp="1"/>
          </p:cNvSpPr>
          <p:nvPr>
            <p:ph type="body" idx="6"/>
          </p:nvPr>
        </p:nvSpPr>
        <p:spPr>
          <a:xfrm>
            <a:off x="603251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0"/>
          <p:cNvSpPr txBox="1">
            <a:spLocks noGrp="1"/>
          </p:cNvSpPr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0" y="-1150"/>
            <a:ext cx="1088700" cy="108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088700" y="1082150"/>
            <a:ext cx="261000" cy="25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3 ">
  <p:cSld name="CUSTOM_18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/>
          <p:nvPr/>
        </p:nvSpPr>
        <p:spPr>
          <a:xfrm>
            <a:off x="4609713" y="4859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4609875" y="6237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4" name="Google Shape;384;p31"/>
          <p:cNvSpPr txBox="1">
            <a:spLocks noGrp="1"/>
          </p:cNvSpPr>
          <p:nvPr>
            <p:ph type="subTitle" idx="1"/>
          </p:nvPr>
        </p:nvSpPr>
        <p:spPr>
          <a:xfrm>
            <a:off x="5332475" y="48600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body" idx="2"/>
          </p:nvPr>
        </p:nvSpPr>
        <p:spPr>
          <a:xfrm>
            <a:off x="5332475" y="106435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4610013" y="1885063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4610175" y="202277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8" name="Google Shape;388;p31"/>
          <p:cNvSpPr txBox="1">
            <a:spLocks noGrp="1"/>
          </p:cNvSpPr>
          <p:nvPr>
            <p:ph type="subTitle" idx="3"/>
          </p:nvPr>
        </p:nvSpPr>
        <p:spPr>
          <a:xfrm>
            <a:off x="5332775" y="1885075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body" idx="4"/>
          </p:nvPr>
        </p:nvSpPr>
        <p:spPr>
          <a:xfrm>
            <a:off x="5332775" y="2463425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4609863" y="3414038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4610025" y="35517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5"/>
          </p:nvPr>
        </p:nvSpPr>
        <p:spPr>
          <a:xfrm>
            <a:off x="5332625" y="341405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body" idx="6"/>
          </p:nvPr>
        </p:nvSpPr>
        <p:spPr>
          <a:xfrm>
            <a:off x="5332625" y="399240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title"/>
          </p:nvPr>
        </p:nvSpPr>
        <p:spPr>
          <a:xfrm>
            <a:off x="391650" y="483600"/>
            <a:ext cx="3500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0" y="3571200"/>
            <a:ext cx="1580700" cy="157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580700" y="3158700"/>
            <a:ext cx="414600" cy="41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1">
  <p:cSld name="CUSTOM_19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3937000" y="1397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3937000" y="13898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937000" y="26398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937000" y="38899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210588" y="4284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4210750" y="5662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4" name="Google Shape;404;p32"/>
          <p:cNvSpPr txBox="1">
            <a:spLocks noGrp="1"/>
          </p:cNvSpPr>
          <p:nvPr>
            <p:ph type="subTitle" idx="1"/>
          </p:nvPr>
        </p:nvSpPr>
        <p:spPr>
          <a:xfrm>
            <a:off x="4869825" y="2663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05" name="Google Shape;405;p32"/>
          <p:cNvSpPr txBox="1">
            <a:spLocks noGrp="1"/>
          </p:cNvSpPr>
          <p:nvPr>
            <p:ph type="body" idx="2"/>
          </p:nvPr>
        </p:nvSpPr>
        <p:spPr>
          <a:xfrm>
            <a:off x="4869825" y="6359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2"/>
          <p:cNvSpPr/>
          <p:nvPr/>
        </p:nvSpPr>
        <p:spPr>
          <a:xfrm>
            <a:off x="4150825" y="16785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4150988" y="18162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8" name="Google Shape;408;p32"/>
          <p:cNvSpPr txBox="1">
            <a:spLocks noGrp="1"/>
          </p:cNvSpPr>
          <p:nvPr>
            <p:ph type="subTitle" idx="3"/>
          </p:nvPr>
        </p:nvSpPr>
        <p:spPr>
          <a:xfrm>
            <a:off x="4810063" y="15164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09" name="Google Shape;409;p32"/>
          <p:cNvSpPr txBox="1">
            <a:spLocks noGrp="1"/>
          </p:cNvSpPr>
          <p:nvPr>
            <p:ph type="body" idx="4"/>
          </p:nvPr>
        </p:nvSpPr>
        <p:spPr>
          <a:xfrm>
            <a:off x="4810063" y="18860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4150825" y="29285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4150988" y="30663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2" name="Google Shape;412;p32"/>
          <p:cNvSpPr txBox="1">
            <a:spLocks noGrp="1"/>
          </p:cNvSpPr>
          <p:nvPr>
            <p:ph type="subTitle" idx="5"/>
          </p:nvPr>
        </p:nvSpPr>
        <p:spPr>
          <a:xfrm>
            <a:off x="4810063" y="27664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6"/>
          </p:nvPr>
        </p:nvSpPr>
        <p:spPr>
          <a:xfrm>
            <a:off x="4810063" y="31360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4150825" y="41786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4150988" y="43163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6" name="Google Shape;416;p32"/>
          <p:cNvSpPr txBox="1">
            <a:spLocks noGrp="1"/>
          </p:cNvSpPr>
          <p:nvPr>
            <p:ph type="subTitle" idx="7"/>
          </p:nvPr>
        </p:nvSpPr>
        <p:spPr>
          <a:xfrm>
            <a:off x="4810063" y="40165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7" name="Google Shape;417;p32"/>
          <p:cNvSpPr txBox="1">
            <a:spLocks noGrp="1"/>
          </p:cNvSpPr>
          <p:nvPr>
            <p:ph type="body" idx="8"/>
          </p:nvPr>
        </p:nvSpPr>
        <p:spPr>
          <a:xfrm>
            <a:off x="4810063" y="43861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32"/>
          <p:cNvSpPr txBox="1">
            <a:spLocks noGrp="1"/>
          </p:cNvSpPr>
          <p:nvPr>
            <p:ph type="title"/>
          </p:nvPr>
        </p:nvSpPr>
        <p:spPr>
          <a:xfrm>
            <a:off x="464225" y="2301750"/>
            <a:ext cx="301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32"/>
          <p:cNvSpPr/>
          <p:nvPr/>
        </p:nvSpPr>
        <p:spPr>
          <a:xfrm rot="10800000" flipH="1">
            <a:off x="0" y="-4"/>
            <a:ext cx="1041900" cy="103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 rot="10800000" flipH="1">
            <a:off x="1042036" y="1036625"/>
            <a:ext cx="273300" cy="27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2 ">
  <p:cSld name="CUSTOM_20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/>
          <p:nvPr/>
        </p:nvSpPr>
        <p:spPr>
          <a:xfrm>
            <a:off x="353775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516757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4679738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6842720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 txBox="1">
            <a:spLocks noGrp="1"/>
          </p:cNvSpPr>
          <p:nvPr>
            <p:ph type="subTitle" idx="1"/>
          </p:nvPr>
        </p:nvSpPr>
        <p:spPr>
          <a:xfrm>
            <a:off x="353775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27" name="Google Shape;427;p33"/>
          <p:cNvSpPr txBox="1">
            <a:spLocks noGrp="1"/>
          </p:cNvSpPr>
          <p:nvPr>
            <p:ph type="body" idx="2"/>
          </p:nvPr>
        </p:nvSpPr>
        <p:spPr>
          <a:xfrm>
            <a:off x="353775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353776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353919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0" name="Google Shape;430;p33"/>
          <p:cNvSpPr txBox="1">
            <a:spLocks noGrp="1"/>
          </p:cNvSpPr>
          <p:nvPr>
            <p:ph type="subTitle" idx="3"/>
          </p:nvPr>
        </p:nvSpPr>
        <p:spPr>
          <a:xfrm>
            <a:off x="2516763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1" name="Google Shape;431;p33"/>
          <p:cNvSpPr txBox="1">
            <a:spLocks noGrp="1"/>
          </p:cNvSpPr>
          <p:nvPr>
            <p:ph type="body" idx="4"/>
          </p:nvPr>
        </p:nvSpPr>
        <p:spPr>
          <a:xfrm>
            <a:off x="2516763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2516764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2516906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4" name="Google Shape;434;p33"/>
          <p:cNvSpPr txBox="1">
            <a:spLocks noGrp="1"/>
          </p:cNvSpPr>
          <p:nvPr>
            <p:ph type="subTitle" idx="5"/>
          </p:nvPr>
        </p:nvSpPr>
        <p:spPr>
          <a:xfrm>
            <a:off x="4679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5" name="Google Shape;435;p33"/>
          <p:cNvSpPr txBox="1">
            <a:spLocks noGrp="1"/>
          </p:cNvSpPr>
          <p:nvPr>
            <p:ph type="body" idx="6"/>
          </p:nvPr>
        </p:nvSpPr>
        <p:spPr>
          <a:xfrm>
            <a:off x="4679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4679751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4679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8" name="Google Shape;438;p33"/>
          <p:cNvSpPr txBox="1">
            <a:spLocks noGrp="1"/>
          </p:cNvSpPr>
          <p:nvPr>
            <p:ph type="subTitle" idx="7"/>
          </p:nvPr>
        </p:nvSpPr>
        <p:spPr>
          <a:xfrm>
            <a:off x="6842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9" name="Google Shape;439;p33"/>
          <p:cNvSpPr txBox="1">
            <a:spLocks noGrp="1"/>
          </p:cNvSpPr>
          <p:nvPr>
            <p:ph type="body" idx="8"/>
          </p:nvPr>
        </p:nvSpPr>
        <p:spPr>
          <a:xfrm>
            <a:off x="6842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6842751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6842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33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3">
  <p:cSld name="CUSTOM_2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Google Shape;447;p34"/>
          <p:cNvCxnSpPr/>
          <p:nvPr/>
        </p:nvCxnSpPr>
        <p:spPr>
          <a:xfrm>
            <a:off x="0" y="1714250"/>
            <a:ext cx="9308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34"/>
          <p:cNvSpPr/>
          <p:nvPr/>
        </p:nvSpPr>
        <p:spPr>
          <a:xfrm>
            <a:off x="352789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2660514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4953464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7199989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352800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653138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496823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719998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6" name="Google Shape;456;p34"/>
          <p:cNvSpPr txBox="1">
            <a:spLocks noGrp="1"/>
          </p:cNvSpPr>
          <p:nvPr>
            <p:ph type="subTitle" idx="1"/>
          </p:nvPr>
        </p:nvSpPr>
        <p:spPr>
          <a:xfrm>
            <a:off x="352800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57" name="Google Shape;457;p34"/>
          <p:cNvSpPr txBox="1">
            <a:spLocks noGrp="1"/>
          </p:cNvSpPr>
          <p:nvPr>
            <p:ph type="body" idx="2"/>
          </p:nvPr>
        </p:nvSpPr>
        <p:spPr>
          <a:xfrm>
            <a:off x="352800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8" name="Google Shape;458;p34"/>
          <p:cNvSpPr txBox="1">
            <a:spLocks noGrp="1"/>
          </p:cNvSpPr>
          <p:nvPr>
            <p:ph type="subTitle" idx="3"/>
          </p:nvPr>
        </p:nvSpPr>
        <p:spPr>
          <a:xfrm>
            <a:off x="2660519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59" name="Google Shape;459;p34"/>
          <p:cNvSpPr txBox="1">
            <a:spLocks noGrp="1"/>
          </p:cNvSpPr>
          <p:nvPr>
            <p:ph type="body" idx="4"/>
          </p:nvPr>
        </p:nvSpPr>
        <p:spPr>
          <a:xfrm>
            <a:off x="2660519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0" name="Google Shape;460;p34"/>
          <p:cNvSpPr txBox="1">
            <a:spLocks noGrp="1"/>
          </p:cNvSpPr>
          <p:nvPr>
            <p:ph type="subTitle" idx="5"/>
          </p:nvPr>
        </p:nvSpPr>
        <p:spPr>
          <a:xfrm>
            <a:off x="4953475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61" name="Google Shape;461;p34"/>
          <p:cNvSpPr txBox="1">
            <a:spLocks noGrp="1"/>
          </p:cNvSpPr>
          <p:nvPr>
            <p:ph type="body" idx="6"/>
          </p:nvPr>
        </p:nvSpPr>
        <p:spPr>
          <a:xfrm>
            <a:off x="4953475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2" name="Google Shape;462;p34"/>
          <p:cNvSpPr txBox="1">
            <a:spLocks noGrp="1"/>
          </p:cNvSpPr>
          <p:nvPr>
            <p:ph type="subTitle" idx="7"/>
          </p:nvPr>
        </p:nvSpPr>
        <p:spPr>
          <a:xfrm>
            <a:off x="7200007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63" name="Google Shape;463;p34"/>
          <p:cNvSpPr txBox="1">
            <a:spLocks noGrp="1"/>
          </p:cNvSpPr>
          <p:nvPr>
            <p:ph type="body" idx="8"/>
          </p:nvPr>
        </p:nvSpPr>
        <p:spPr>
          <a:xfrm>
            <a:off x="7200007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4"/>
          <p:cNvSpPr/>
          <p:nvPr/>
        </p:nvSpPr>
        <p:spPr>
          <a:xfrm rot="10800000">
            <a:off x="6" y="3982616"/>
            <a:ext cx="1052700" cy="10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 rot="10800000">
            <a:off x="1052747" y="4987675"/>
            <a:ext cx="205800" cy="19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 rot="10800000">
            <a:off x="8091306" y="-9"/>
            <a:ext cx="1052700" cy="10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1">
  <p:cSld name="CUSTOM_22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/>
          <p:nvPr/>
        </p:nvSpPr>
        <p:spPr>
          <a:xfrm>
            <a:off x="356312" y="1355968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/>
          <p:nvPr/>
        </p:nvSpPr>
        <p:spPr>
          <a:xfrm rot="10800000">
            <a:off x="356582" y="1355848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429818" y="1430161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35"/>
          <p:cNvSpPr txBox="1">
            <a:spLocks noGrp="1"/>
          </p:cNvSpPr>
          <p:nvPr>
            <p:ph type="subTitle" idx="1"/>
          </p:nvPr>
        </p:nvSpPr>
        <p:spPr>
          <a:xfrm>
            <a:off x="461118" y="2287725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73" name="Google Shape;473;p35"/>
          <p:cNvSpPr txBox="1">
            <a:spLocks noGrp="1"/>
          </p:cNvSpPr>
          <p:nvPr>
            <p:ph type="body" idx="2"/>
          </p:nvPr>
        </p:nvSpPr>
        <p:spPr>
          <a:xfrm>
            <a:off x="461118" y="3005901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2064833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>
            <a:off x="2065103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2138339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35"/>
          <p:cNvSpPr txBox="1">
            <a:spLocks noGrp="1"/>
          </p:cNvSpPr>
          <p:nvPr>
            <p:ph type="subTitle" idx="3"/>
          </p:nvPr>
        </p:nvSpPr>
        <p:spPr>
          <a:xfrm>
            <a:off x="2170519" y="2287739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body" idx="4"/>
          </p:nvPr>
        </p:nvSpPr>
        <p:spPr>
          <a:xfrm>
            <a:off x="2170519" y="3005879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35"/>
          <p:cNvSpPr/>
          <p:nvPr/>
        </p:nvSpPr>
        <p:spPr>
          <a:xfrm>
            <a:off x="3773329" y="1355980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10800000">
            <a:off x="3773599" y="1355861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846834" y="1430173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5"/>
          </p:nvPr>
        </p:nvSpPr>
        <p:spPr>
          <a:xfrm>
            <a:off x="3879029" y="2287736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83" name="Google Shape;483;p35"/>
          <p:cNvSpPr txBox="1">
            <a:spLocks noGrp="1"/>
          </p:cNvSpPr>
          <p:nvPr>
            <p:ph type="body" idx="6"/>
          </p:nvPr>
        </p:nvSpPr>
        <p:spPr>
          <a:xfrm>
            <a:off x="3879029" y="3005876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481850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 rot="10800000">
            <a:off x="5482120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5555355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35"/>
          <p:cNvSpPr txBox="1">
            <a:spLocks noGrp="1"/>
          </p:cNvSpPr>
          <p:nvPr>
            <p:ph type="subTitle" idx="7"/>
          </p:nvPr>
        </p:nvSpPr>
        <p:spPr>
          <a:xfrm>
            <a:off x="5588430" y="228715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body" idx="8"/>
          </p:nvPr>
        </p:nvSpPr>
        <p:spPr>
          <a:xfrm>
            <a:off x="5588430" y="3005294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5"/>
          <p:cNvSpPr/>
          <p:nvPr/>
        </p:nvSpPr>
        <p:spPr>
          <a:xfrm>
            <a:off x="7190345" y="135627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 rot="10800000">
            <a:off x="7190615" y="135615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7263851" y="143046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35"/>
          <p:cNvSpPr txBox="1">
            <a:spLocks noGrp="1"/>
          </p:cNvSpPr>
          <p:nvPr>
            <p:ph type="subTitle" idx="9"/>
          </p:nvPr>
        </p:nvSpPr>
        <p:spPr>
          <a:xfrm>
            <a:off x="7296024" y="228744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93" name="Google Shape;493;p35"/>
          <p:cNvSpPr txBox="1">
            <a:spLocks noGrp="1"/>
          </p:cNvSpPr>
          <p:nvPr>
            <p:ph type="body" idx="13"/>
          </p:nvPr>
        </p:nvSpPr>
        <p:spPr>
          <a:xfrm>
            <a:off x="7296024" y="3005572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35"/>
          <p:cNvSpPr txBox="1">
            <a:spLocks noGrp="1"/>
          </p:cNvSpPr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0" y="239138"/>
            <a:ext cx="1128000" cy="112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 rot="10800000">
            <a:off x="1128300" y="38"/>
            <a:ext cx="239700" cy="23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2">
  <p:cSld name="CUSTOM_23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/>
          <p:nvPr/>
        </p:nvSpPr>
        <p:spPr>
          <a:xfrm>
            <a:off x="1038562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1038725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00" name="Google Shape;500;p36"/>
          <p:cNvSpPr txBox="1">
            <a:spLocks noGrp="1"/>
          </p:cNvSpPr>
          <p:nvPr>
            <p:ph type="subTitle" idx="1"/>
          </p:nvPr>
        </p:nvSpPr>
        <p:spPr>
          <a:xfrm>
            <a:off x="58280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1" name="Google Shape;501;p36"/>
          <p:cNvSpPr txBox="1">
            <a:spLocks noGrp="1"/>
          </p:cNvSpPr>
          <p:nvPr>
            <p:ph type="body" idx="2"/>
          </p:nvPr>
        </p:nvSpPr>
        <p:spPr>
          <a:xfrm>
            <a:off x="58280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2" name="Google Shape;502;p36"/>
          <p:cNvSpPr txBox="1">
            <a:spLocks noGrp="1"/>
          </p:cNvSpPr>
          <p:nvPr>
            <p:ph type="subTitle" idx="3"/>
          </p:nvPr>
        </p:nvSpPr>
        <p:spPr>
          <a:xfrm>
            <a:off x="221972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3" name="Google Shape;503;p36"/>
          <p:cNvSpPr txBox="1">
            <a:spLocks noGrp="1"/>
          </p:cNvSpPr>
          <p:nvPr>
            <p:ph type="body" idx="4"/>
          </p:nvPr>
        </p:nvSpPr>
        <p:spPr>
          <a:xfrm>
            <a:off x="221972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4" name="Google Shape;504;p36"/>
          <p:cNvSpPr txBox="1">
            <a:spLocks noGrp="1"/>
          </p:cNvSpPr>
          <p:nvPr>
            <p:ph type="subTitle" idx="5"/>
          </p:nvPr>
        </p:nvSpPr>
        <p:spPr>
          <a:xfrm>
            <a:off x="385665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5" name="Google Shape;505;p36"/>
          <p:cNvSpPr txBox="1">
            <a:spLocks noGrp="1"/>
          </p:cNvSpPr>
          <p:nvPr>
            <p:ph type="body" idx="6"/>
          </p:nvPr>
        </p:nvSpPr>
        <p:spPr>
          <a:xfrm>
            <a:off x="385665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7"/>
          </p:nvPr>
        </p:nvSpPr>
        <p:spPr>
          <a:xfrm>
            <a:off x="549357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7" name="Google Shape;507;p36"/>
          <p:cNvSpPr txBox="1">
            <a:spLocks noGrp="1"/>
          </p:cNvSpPr>
          <p:nvPr>
            <p:ph type="body" idx="8"/>
          </p:nvPr>
        </p:nvSpPr>
        <p:spPr>
          <a:xfrm>
            <a:off x="549357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8" name="Google Shape;508;p36"/>
          <p:cNvSpPr txBox="1">
            <a:spLocks noGrp="1"/>
          </p:cNvSpPr>
          <p:nvPr>
            <p:ph type="subTitle" idx="9"/>
          </p:nvPr>
        </p:nvSpPr>
        <p:spPr>
          <a:xfrm>
            <a:off x="7130500" y="2010038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9" name="Google Shape;509;p36"/>
          <p:cNvSpPr txBox="1">
            <a:spLocks noGrp="1"/>
          </p:cNvSpPr>
          <p:nvPr>
            <p:ph type="body" idx="13"/>
          </p:nvPr>
        </p:nvSpPr>
        <p:spPr>
          <a:xfrm>
            <a:off x="7130500" y="2546738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2675500" y="230282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2675663" y="244096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4312425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4312588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949350" y="2303401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5949513" y="2441544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7586487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7586650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8" name="Google Shape;518;p36"/>
          <p:cNvSpPr txBox="1">
            <a:spLocks noGrp="1"/>
          </p:cNvSpPr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8384400" y="1"/>
            <a:ext cx="7773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3">
  <p:cSld name="CUSTOM_24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37"/>
          <p:cNvCxnSpPr/>
          <p:nvPr/>
        </p:nvCxnSpPr>
        <p:spPr>
          <a:xfrm>
            <a:off x="3256650" y="4500"/>
            <a:ext cx="0" cy="5134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3" name="Google Shape;523;p37"/>
          <p:cNvSpPr/>
          <p:nvPr/>
        </p:nvSpPr>
        <p:spPr>
          <a:xfrm>
            <a:off x="3031250" y="1939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3031387" y="3103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5" name="Google Shape;525;p37"/>
          <p:cNvSpPr txBox="1">
            <a:spLocks noGrp="1"/>
          </p:cNvSpPr>
          <p:nvPr>
            <p:ph type="subTitle" idx="1"/>
          </p:nvPr>
        </p:nvSpPr>
        <p:spPr>
          <a:xfrm>
            <a:off x="3643200" y="1393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26" name="Google Shape;526;p37"/>
          <p:cNvSpPr txBox="1">
            <a:spLocks noGrp="1"/>
          </p:cNvSpPr>
          <p:nvPr>
            <p:ph type="body" idx="2"/>
          </p:nvPr>
        </p:nvSpPr>
        <p:spPr>
          <a:xfrm>
            <a:off x="3643200" y="4868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27" name="Google Shape;527;p37"/>
          <p:cNvSpPr/>
          <p:nvPr/>
        </p:nvSpPr>
        <p:spPr>
          <a:xfrm>
            <a:off x="3031375" y="11900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031512" y="1306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9" name="Google Shape;529;p37"/>
          <p:cNvSpPr txBox="1">
            <a:spLocks noGrp="1"/>
          </p:cNvSpPr>
          <p:nvPr>
            <p:ph type="subTitle" idx="3"/>
          </p:nvPr>
        </p:nvSpPr>
        <p:spPr>
          <a:xfrm>
            <a:off x="3643325" y="11353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0" name="Google Shape;530;p37"/>
          <p:cNvSpPr txBox="1">
            <a:spLocks noGrp="1"/>
          </p:cNvSpPr>
          <p:nvPr>
            <p:ph type="body" idx="4"/>
          </p:nvPr>
        </p:nvSpPr>
        <p:spPr>
          <a:xfrm>
            <a:off x="3643325" y="14829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37"/>
          <p:cNvSpPr/>
          <p:nvPr/>
        </p:nvSpPr>
        <p:spPr>
          <a:xfrm>
            <a:off x="3031250" y="21860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3031387" y="23024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3" name="Google Shape;533;p37"/>
          <p:cNvSpPr txBox="1">
            <a:spLocks noGrp="1"/>
          </p:cNvSpPr>
          <p:nvPr>
            <p:ph type="subTitle" idx="5"/>
          </p:nvPr>
        </p:nvSpPr>
        <p:spPr>
          <a:xfrm>
            <a:off x="3643200" y="21314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4" name="Google Shape;534;p37"/>
          <p:cNvSpPr txBox="1">
            <a:spLocks noGrp="1"/>
          </p:cNvSpPr>
          <p:nvPr>
            <p:ph type="body" idx="6"/>
          </p:nvPr>
        </p:nvSpPr>
        <p:spPr>
          <a:xfrm>
            <a:off x="3643200" y="24789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5" name="Google Shape;535;p37"/>
          <p:cNvSpPr/>
          <p:nvPr/>
        </p:nvSpPr>
        <p:spPr>
          <a:xfrm>
            <a:off x="3031500" y="31821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3031637" y="32984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7" name="Google Shape;537;p37"/>
          <p:cNvSpPr txBox="1">
            <a:spLocks noGrp="1"/>
          </p:cNvSpPr>
          <p:nvPr>
            <p:ph type="subTitle" idx="7"/>
          </p:nvPr>
        </p:nvSpPr>
        <p:spPr>
          <a:xfrm>
            <a:off x="3643450" y="31274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8" name="Google Shape;538;p37"/>
          <p:cNvSpPr txBox="1">
            <a:spLocks noGrp="1"/>
          </p:cNvSpPr>
          <p:nvPr>
            <p:ph type="body" idx="8"/>
          </p:nvPr>
        </p:nvSpPr>
        <p:spPr>
          <a:xfrm>
            <a:off x="3643450" y="34750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9" name="Google Shape;539;p37"/>
          <p:cNvSpPr/>
          <p:nvPr/>
        </p:nvSpPr>
        <p:spPr>
          <a:xfrm>
            <a:off x="3031250" y="41781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0" name="Google Shape;540;p37"/>
          <p:cNvSpPr txBox="1"/>
          <p:nvPr/>
        </p:nvSpPr>
        <p:spPr>
          <a:xfrm>
            <a:off x="3030612" y="4294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41" name="Google Shape;541;p37"/>
          <p:cNvSpPr txBox="1">
            <a:spLocks noGrp="1"/>
          </p:cNvSpPr>
          <p:nvPr>
            <p:ph type="subTitle" idx="9"/>
          </p:nvPr>
        </p:nvSpPr>
        <p:spPr>
          <a:xfrm>
            <a:off x="3643200" y="41235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42" name="Google Shape;542;p37"/>
          <p:cNvSpPr txBox="1">
            <a:spLocks noGrp="1"/>
          </p:cNvSpPr>
          <p:nvPr>
            <p:ph type="body" idx="13"/>
          </p:nvPr>
        </p:nvSpPr>
        <p:spPr>
          <a:xfrm>
            <a:off x="3643200" y="44710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3" name="Google Shape;543;p37"/>
          <p:cNvSpPr txBox="1">
            <a:spLocks noGrp="1"/>
          </p:cNvSpPr>
          <p:nvPr>
            <p:ph type="title"/>
          </p:nvPr>
        </p:nvSpPr>
        <p:spPr>
          <a:xfrm>
            <a:off x="344850" y="1878425"/>
            <a:ext cx="23313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7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None/>
              <a:defRPr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>
            <a:spLocks noGrp="1"/>
          </p:cNvSpPr>
          <p:nvPr>
            <p:ph type="body" idx="1"/>
          </p:nvPr>
        </p:nvSpPr>
        <p:spPr>
          <a:xfrm>
            <a:off x="658800" y="793750"/>
            <a:ext cx="6364800" cy="3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300" b="1" dirty="0">
                <a:latin typeface="Hanken Grotesk"/>
                <a:ea typeface="Hanken Grotesk"/>
                <a:cs typeface="Hanken Grotesk"/>
                <a:sym typeface="Hanken Grotesk"/>
              </a:rPr>
              <a:t>RELIABLE EXPLAINABLE AI FRAMEWORK FOR </a:t>
            </a:r>
            <a:r>
              <a:rPr lang="en-US" sz="2000" dirty="0">
                <a:latin typeface="Hanken Grotesk"/>
                <a:ea typeface="Hanken Grotesk"/>
                <a:cs typeface="Hanken Grotesk"/>
                <a:sym typeface="Hanken Grotesk"/>
              </a:rPr>
              <a:t>SOFTWARE DEFECT PREDICTION</a:t>
            </a:r>
            <a:endParaRPr sz="20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N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Student Name:</a:t>
            </a:r>
            <a:r>
              <a:rPr lang="en-GB" dirty="0"/>
              <a:t> Udit Jain</a:t>
            </a:r>
            <a:br>
              <a:rPr lang="en-GB" dirty="0"/>
            </a:b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Roll No:</a:t>
            </a:r>
            <a:r>
              <a:rPr lang="en-GB" dirty="0"/>
              <a:t> 24CSM1R23</a:t>
            </a:r>
            <a:br>
              <a:rPr lang="en-GB" dirty="0"/>
            </a:b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Guide Name:</a:t>
            </a:r>
            <a:r>
              <a:rPr lang="en-GB" dirty="0"/>
              <a:t> Dr. Manjubala Bisi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Internship At:</a:t>
            </a:r>
            <a:r>
              <a:rPr lang="en-GB" dirty="0"/>
              <a:t> Intel Corporation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>
            <a:spLocks noGrp="1"/>
          </p:cNvSpPr>
          <p:nvPr>
            <p:ph type="title"/>
          </p:nvPr>
        </p:nvSpPr>
        <p:spPr>
          <a:xfrm>
            <a:off x="658800" y="864475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Scope of the Project</a:t>
            </a:r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body" idx="4294967295"/>
          </p:nvPr>
        </p:nvSpPr>
        <p:spPr>
          <a:xfrm>
            <a:off x="658800" y="1411675"/>
            <a:ext cx="5229600" cy="3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using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explain software defect prediction models and on evaluating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those explanations.</a:t>
            </a:r>
            <a:b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goal is to ensure developers and stakeholders can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trust, validate, and interpret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model’s reasoning—not just its predictions.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clearer understanding of which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metrics truly drive defect predictions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measures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strengthen trust in SHAP explanations.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Ultimately, this work bridges the gap between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explainability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trustworthy, actionable insights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software engineering.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7" name="Google Shape;5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325" y="1788925"/>
            <a:ext cx="2632699" cy="13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63" name="Google Shape;563;p40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Explainable AI (XAI):</a:t>
            </a:r>
            <a:br>
              <a:rPr lang="en-GB" sz="16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Explainable AI refers to techniques that make the inner workings and predictions of complex AI models understandable to humans. Instead of treating AI as a “black box,” XAI highlights </a:t>
            </a:r>
            <a:r>
              <a:rPr lang="en-GB" sz="1100" i="1">
                <a:solidFill>
                  <a:schemeClr val="dk1"/>
                </a:solidFill>
              </a:rPr>
              <a:t>which features or factors influenced a decision</a:t>
            </a:r>
            <a:r>
              <a:rPr lang="en-GB" sz="1100">
                <a:solidFill>
                  <a:schemeClr val="dk1"/>
                </a:solidFill>
              </a:rPr>
              <a:t> and how much they contributed.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Think of AI like a teacher giving you an answer. Normally, it just says </a:t>
            </a:r>
            <a:r>
              <a:rPr lang="en-GB" sz="1100" i="1">
                <a:solidFill>
                  <a:schemeClr val="dk1"/>
                </a:solidFill>
              </a:rPr>
              <a:t>“42”</a:t>
            </a:r>
            <a:r>
              <a:rPr lang="en-GB" sz="1100">
                <a:solidFill>
                  <a:schemeClr val="dk1"/>
                </a:solidFill>
              </a:rPr>
              <a:t> without telling you how. With XAI, the teacher shows the </a:t>
            </a:r>
            <a:r>
              <a:rPr lang="en-GB" sz="1100" b="1">
                <a:solidFill>
                  <a:schemeClr val="dk1"/>
                </a:solidFill>
              </a:rPr>
              <a:t>steps, reasons, and key points</a:t>
            </a:r>
            <a:r>
              <a:rPr lang="en-GB" sz="1100">
                <a:solidFill>
                  <a:schemeClr val="dk1"/>
                </a:solidFill>
              </a:rPr>
              <a:t> that led to the answer.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564" name="Google Shape;564;p40"/>
          <p:cNvSpPr txBox="1"/>
          <p:nvPr/>
        </p:nvSpPr>
        <p:spPr>
          <a:xfrm>
            <a:off x="1994875" y="3486525"/>
            <a:ext cx="65271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Importance: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This makes AI decisions </a:t>
            </a:r>
            <a:r>
              <a:rPr lang="en-GB" sz="1100" b="1">
                <a:solidFill>
                  <a:schemeClr val="dk1"/>
                </a:solidFill>
              </a:rPr>
              <a:t>clear and transparent</a:t>
            </a:r>
            <a:r>
              <a:rPr lang="en-GB" sz="1100">
                <a:solidFill>
                  <a:schemeClr val="dk1"/>
                </a:solidFill>
              </a:rPr>
              <a:t>, so people can </a:t>
            </a:r>
            <a:r>
              <a:rPr lang="en-GB" sz="1100" b="1">
                <a:solidFill>
                  <a:schemeClr val="dk1"/>
                </a:solidFill>
              </a:rPr>
              <a:t>trust</a:t>
            </a:r>
            <a:r>
              <a:rPr lang="en-GB" sz="1100">
                <a:solidFill>
                  <a:schemeClr val="dk1"/>
                </a:solidFill>
              </a:rPr>
              <a:t> the results, </a:t>
            </a:r>
            <a:r>
              <a:rPr lang="en-GB" sz="1100" b="1">
                <a:solidFill>
                  <a:schemeClr val="dk1"/>
                </a:solidFill>
              </a:rPr>
              <a:t>understand</a:t>
            </a:r>
            <a:r>
              <a:rPr lang="en-GB" sz="1100">
                <a:solidFill>
                  <a:schemeClr val="dk1"/>
                </a:solidFill>
              </a:rPr>
              <a:t> the reasoning, and </a:t>
            </a:r>
            <a:r>
              <a:rPr lang="en-GB" sz="1100" b="1">
                <a:solidFill>
                  <a:schemeClr val="dk1"/>
                </a:solidFill>
              </a:rPr>
              <a:t>confidently act</a:t>
            </a:r>
            <a:r>
              <a:rPr lang="en-GB" sz="1100">
                <a:solidFill>
                  <a:schemeClr val="dk1"/>
                </a:solidFill>
              </a:rPr>
              <a:t> on them. Instead of a “black box,” AI becomes a </a:t>
            </a:r>
            <a:r>
              <a:rPr lang="en-GB" sz="1100" b="1">
                <a:solidFill>
                  <a:schemeClr val="dk1"/>
                </a:solidFill>
              </a:rPr>
              <a:t>guide you can question and rely 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0" name="Google Shape;570;p41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Reliability of XAI:</a:t>
            </a:r>
            <a:br>
              <a:rPr lang="en-GB" sz="16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Reliability means not just explaining a model’s decision once, but making sure those explanations are </a:t>
            </a:r>
            <a:r>
              <a:rPr lang="en-GB" sz="1100" b="1">
                <a:solidFill>
                  <a:schemeClr val="dk1"/>
                </a:solidFill>
              </a:rPr>
              <a:t>consistent, stable, and truly reflect how the model works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Imagine asking a friend the same question on different days — if the answers keep changing, you wouldn’t trust them. Similarly, reliable AI explanations should stay steady across different data samples or conditions, proving that the insights are dependable and not random.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1967900" y="3450575"/>
            <a:ext cx="59307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Importance: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Builds </a:t>
            </a:r>
            <a:r>
              <a:rPr lang="en-GB" sz="1100" b="1">
                <a:solidFill>
                  <a:schemeClr val="dk1"/>
                </a:solidFill>
              </a:rPr>
              <a:t>confidence and trust</a:t>
            </a:r>
            <a:r>
              <a:rPr lang="en-GB" sz="1100">
                <a:solidFill>
                  <a:schemeClr val="dk1"/>
                </a:solidFill>
              </a:rPr>
              <a:t> in AI systems, helping developers and stakeholders make </a:t>
            </a:r>
            <a:r>
              <a:rPr lang="en-GB" sz="1100" b="1">
                <a:solidFill>
                  <a:schemeClr val="dk1"/>
                </a:solidFill>
              </a:rPr>
              <a:t>informed, risk-free decisions</a:t>
            </a:r>
            <a:r>
              <a:rPr lang="en-GB" sz="1100">
                <a:solidFill>
                  <a:schemeClr val="dk1"/>
                </a:solidFill>
              </a:rPr>
              <a:t> based on explanations they can rely 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7" name="Google Shape;577;p42"/>
          <p:cNvSpPr txBox="1"/>
          <p:nvPr/>
        </p:nvSpPr>
        <p:spPr>
          <a:xfrm>
            <a:off x="586550" y="1588775"/>
            <a:ext cx="79353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Relevance in Software Defect Prediction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Reliable explanations help developers and stakeholders </a:t>
            </a:r>
            <a:r>
              <a:rPr lang="en-GB" sz="1100" b="1">
                <a:solidFill>
                  <a:schemeClr val="dk1"/>
                </a:solidFill>
              </a:rPr>
              <a:t>trust the model’s insights</a:t>
            </a:r>
            <a:r>
              <a:rPr lang="en-GB" sz="1100">
                <a:solidFill>
                  <a:schemeClr val="dk1"/>
                </a:solidFill>
              </a:rPr>
              <a:t>, take </a:t>
            </a:r>
            <a:r>
              <a:rPr lang="en-GB" sz="1100" b="1">
                <a:solidFill>
                  <a:schemeClr val="dk1"/>
                </a:solidFill>
              </a:rPr>
              <a:t>confident actions</a:t>
            </a:r>
            <a:r>
              <a:rPr lang="en-GB" sz="1100">
                <a:solidFill>
                  <a:schemeClr val="dk1"/>
                </a:solidFill>
              </a:rPr>
              <a:t>, and ultimately achieve </a:t>
            </a:r>
            <a:r>
              <a:rPr lang="en-GB" sz="1100" b="1">
                <a:solidFill>
                  <a:schemeClr val="dk1"/>
                </a:solidFill>
              </a:rPr>
              <a:t>better software quality with fewer risks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Motivation: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By moving beyond accuracy to </a:t>
            </a:r>
            <a:r>
              <a:rPr lang="en-GB" sz="1100" b="1">
                <a:solidFill>
                  <a:schemeClr val="dk1"/>
                </a:solidFill>
              </a:rPr>
              <a:t>trustworthy explanations</a:t>
            </a:r>
            <a:r>
              <a:rPr lang="en-GB" sz="1100">
                <a:solidFill>
                  <a:schemeClr val="dk1"/>
                </a:solidFill>
              </a:rPr>
              <a:t>, we enable AI to become a </a:t>
            </a:r>
            <a:r>
              <a:rPr lang="en-GB" sz="1100" b="1">
                <a:solidFill>
                  <a:schemeClr val="dk1"/>
                </a:solidFill>
              </a:rPr>
              <a:t>true decision-support partner</a:t>
            </a:r>
            <a:r>
              <a:rPr lang="en-GB" sz="1100">
                <a:solidFill>
                  <a:schemeClr val="dk1"/>
                </a:solidFill>
              </a:rPr>
              <a:t> in software engineering, not just a prediction tool.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Problem Statement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83" name="Google Shape;583;p43"/>
          <p:cNvSpPr txBox="1">
            <a:spLocks noGrp="1"/>
          </p:cNvSpPr>
          <p:nvPr>
            <p:ph type="body" idx="1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Challenges : 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Traditional AI models often lack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transparency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their predictions.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Difficulty in understanding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different software metrics influence defect prediction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Explanations may vary across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datasets, folds, and domains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reducing trust.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Limited availability of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reliable, standardized defect data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addressing these challenges, AI explanations remain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hard to trust and act upon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dirty="0"/>
              <a:t>Understanding these challenges is crucial for effective solutions!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"/>
          <p:cNvSpPr txBox="1">
            <a:spLocks noGrp="1"/>
          </p:cNvSpPr>
          <p:nvPr>
            <p:ph type="title"/>
          </p:nvPr>
        </p:nvSpPr>
        <p:spPr>
          <a:xfrm>
            <a:off x="565525" y="710775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589" name="Google Shape;589;p44"/>
          <p:cNvSpPr txBox="1">
            <a:spLocks noGrp="1"/>
          </p:cNvSpPr>
          <p:nvPr>
            <p:ph type="body" idx="1"/>
          </p:nvPr>
        </p:nvSpPr>
        <p:spPr>
          <a:xfrm>
            <a:off x="771975" y="1257975"/>
            <a:ext cx="6535800" cy="19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prior work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prioritizes accuracy or raw interpretability, while reliability is rarely stress-tested; existing reliability implementations are largely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a single generalized k-fold SHAP/LIME framework.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approaches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under-specify core explainability dimensions: explanations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vary with train/test splits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(hurting generalization), can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disagree with model attributions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(low concordance), and may lack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" name="Google Shape;594;p45"/>
          <p:cNvGraphicFramePr/>
          <p:nvPr/>
        </p:nvGraphicFramePr>
        <p:xfrm>
          <a:off x="681575" y="1471700"/>
          <a:ext cx="7258775" cy="2709590"/>
        </p:xfrm>
        <a:graphic>
          <a:graphicData uri="http://schemas.openxmlformats.org/drawingml/2006/table">
            <a:tbl>
              <a:tblPr>
                <a:noFill/>
                <a:tableStyleId>{08DB28E6-07B8-43B4-94E9-65CDF57FDC44}</a:tableStyleId>
              </a:tblPr>
              <a:tblGrid>
                <a:gridCol w="15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Title of the Paper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Published In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Significance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Limitation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A Methodology for Reliability Analysis of Explainable AI: Application to Endocrinology Diseases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2024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Introduced a generalized framework with </a:t>
                      </a:r>
                      <a:r>
                        <a:rPr lang="en-GB" sz="900" b="1">
                          <a:solidFill>
                            <a:schemeClr val="dk1"/>
                          </a:solidFill>
                        </a:rPr>
                        <a:t>Generalizability, Concordance, Stability</a:t>
                      </a: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 as reliability metrics for SHAP/LIME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Domain-specific evaluation (healthcare); ignores local sensitivity/perturbation reliability</a:t>
                      </a:r>
                      <a:endParaRPr sz="9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LCNN: Lightweight CNN for Software Defect Feature Identification Using Explainable AI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2024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Used SHAP and LIME to interpret CNN-based predictions, highlighting reproducibility of explanations in deep models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No systematic reliability assessment (e.g., stability, concordance); limited to visualization of explanations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Understanding Software Defect Prediction Through eXplainable Neural Additive Models (XNAMs)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2025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Designed inherently interpretable models, reducing reliance on post-hoc explanations for consistency</a:t>
                      </a:r>
                      <a:endParaRPr sz="900" b="1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Focused on interpretability, not reliability; no cross-fold stability or perturbation analysis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5" name="Google Shape;595;p45"/>
          <p:cNvSpPr txBox="1">
            <a:spLocks noGrp="1"/>
          </p:cNvSpPr>
          <p:nvPr>
            <p:ph type="title"/>
          </p:nvPr>
        </p:nvSpPr>
        <p:spPr>
          <a:xfrm>
            <a:off x="565525" y="710775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2D05AD55-1B72-870D-8356-2B35EE4F0285}"/>
              </a:ext>
            </a:extLst>
          </p:cNvPr>
          <p:cNvSpPr txBox="1">
            <a:spLocks/>
          </p:cNvSpPr>
          <p:nvPr/>
        </p:nvSpPr>
        <p:spPr>
          <a:xfrm>
            <a:off x="1888145" y="427909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dirty="0"/>
              <a:t>Table 1: </a:t>
            </a:r>
            <a:r>
              <a:rPr lang="en-US" sz="1000" dirty="0"/>
              <a:t>Summary of existing studies in software defect prediction and explainable AI, highlighting their key contributions and limitations      that motivated the development of the proposed Reliable XAI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" name="Google Shape;600;p46"/>
          <p:cNvGraphicFramePr/>
          <p:nvPr/>
        </p:nvGraphicFramePr>
        <p:xfrm>
          <a:off x="681575" y="1471700"/>
          <a:ext cx="7258775" cy="2709590"/>
        </p:xfrm>
        <a:graphic>
          <a:graphicData uri="http://schemas.openxmlformats.org/drawingml/2006/table">
            <a:tbl>
              <a:tblPr>
                <a:noFill/>
                <a:tableStyleId>{08DB28E6-07B8-43B4-94E9-65CDF57FDC44}</a:tableStyleId>
              </a:tblPr>
              <a:tblGrid>
                <a:gridCol w="15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Title of the Paper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Published In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Significance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u="none" strike="noStrike" cap="none"/>
                        <a:t>Limitation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Software Defects Identification: Results Using Machine Learning and Explainable AI Techniques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Journal of Systems &amp; Software Engineering, 2024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Compared multiple ML models (RF, SVM, NN) with SHAP for feature explanations in defect detection.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Focused on accuracy and interpretability; no formal reliability metrics evaluated.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Towards Trustworthy Explainable AI for Software Defect Prediction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ICSE 2024 (Conference)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Highlighted the need for trustworthy explanations in SDP, calling for reliability-aware XAI methods.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Conceptual work; lacks implementation of quantitative reliability measures.</a:t>
                      </a:r>
                      <a:endParaRPr sz="9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Explainable Software Defect Prediction from Cross-Company Metrics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ICICCS 2023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Applied SHAP to cross-project defect data, showing feature transferability.</a:t>
                      </a:r>
                      <a:endParaRPr sz="9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No assessment of reliability; explanations evaluated only qualitatively.</a:t>
                      </a:r>
                      <a:endParaRPr sz="9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1" name="Google Shape;601;p46"/>
          <p:cNvSpPr txBox="1">
            <a:spLocks noGrp="1"/>
          </p:cNvSpPr>
          <p:nvPr>
            <p:ph type="title"/>
          </p:nvPr>
        </p:nvSpPr>
        <p:spPr>
          <a:xfrm>
            <a:off x="565525" y="710775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4" name="Google Shape;611;p47">
            <a:extLst>
              <a:ext uri="{FF2B5EF4-FFF2-40B4-BE49-F238E27FC236}">
                <a16:creationId xmlns:a16="http://schemas.microsoft.com/office/drawing/2014/main" id="{08243017-7B94-5E39-D94F-7AB6506FF40F}"/>
              </a:ext>
            </a:extLst>
          </p:cNvPr>
          <p:cNvSpPr txBox="1">
            <a:spLocks/>
          </p:cNvSpPr>
          <p:nvPr/>
        </p:nvSpPr>
        <p:spPr>
          <a:xfrm>
            <a:off x="1888145" y="427909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dirty="0"/>
              <a:t>Table 2: </a:t>
            </a:r>
            <a:r>
              <a:rPr lang="en-US" sz="1000" dirty="0"/>
              <a:t>Summary of existing studies in software defect prediction and explainable AI, highlighting their key contributions and limitations      that motivated the development of the proposed Reliable XAI Framework.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/>
          <p:cNvSpPr txBox="1">
            <a:spLocks noGrp="1"/>
          </p:cNvSpPr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Data Collection and Methodology</a:t>
            </a:r>
            <a:endParaRPr dirty="0"/>
          </a:p>
        </p:txBody>
      </p:sp>
      <p:sp>
        <p:nvSpPr>
          <p:cNvPr id="607" name="Google Shape;607;p47"/>
          <p:cNvSpPr txBox="1">
            <a:spLocks noGrp="1"/>
          </p:cNvSpPr>
          <p:nvPr>
            <p:ph type="subTitle" idx="1"/>
          </p:nvPr>
        </p:nvSpPr>
        <p:spPr>
          <a:xfrm>
            <a:off x="359625" y="961200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Data Sources</a:t>
            </a:r>
            <a:endParaRPr dirty="0"/>
          </a:p>
        </p:txBody>
      </p:sp>
      <p:sp>
        <p:nvSpPr>
          <p:cNvPr id="611" name="Google Shape;611;p47"/>
          <p:cNvSpPr txBox="1">
            <a:spLocks noGrp="1"/>
          </p:cNvSpPr>
          <p:nvPr>
            <p:ph type="subTitle" idx="4"/>
          </p:nvPr>
        </p:nvSpPr>
        <p:spPr>
          <a:xfrm>
            <a:off x="3925493" y="412669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b="1" dirty="0"/>
              <a:t>Table 3 : </a:t>
            </a:r>
            <a:r>
              <a:rPr lang="en-US" sz="1000" dirty="0"/>
              <a:t>NASA PROMISE software defect datasets used in this study, detailing the number of instances, attributes, and class distribution for each dataset.</a:t>
            </a:r>
            <a:endParaRPr sz="1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65865C-DC09-638C-4587-135C0A325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85304"/>
              </p:ext>
            </p:extLst>
          </p:nvPr>
        </p:nvGraphicFramePr>
        <p:xfrm>
          <a:off x="3055439" y="1271336"/>
          <a:ext cx="5643286" cy="2614864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672315">
                  <a:extLst>
                    <a:ext uri="{9D8B030D-6E8A-4147-A177-3AD203B41FA5}">
                      <a16:colId xmlns:a16="http://schemas.microsoft.com/office/drawing/2014/main" val="2244438559"/>
                    </a:ext>
                  </a:extLst>
                </a:gridCol>
                <a:gridCol w="797042">
                  <a:extLst>
                    <a:ext uri="{9D8B030D-6E8A-4147-A177-3AD203B41FA5}">
                      <a16:colId xmlns:a16="http://schemas.microsoft.com/office/drawing/2014/main" val="3393110883"/>
                    </a:ext>
                  </a:extLst>
                </a:gridCol>
                <a:gridCol w="770177">
                  <a:extLst>
                    <a:ext uri="{9D8B030D-6E8A-4147-A177-3AD203B41FA5}">
                      <a16:colId xmlns:a16="http://schemas.microsoft.com/office/drawing/2014/main" val="3596462744"/>
                    </a:ext>
                  </a:extLst>
                </a:gridCol>
                <a:gridCol w="814953">
                  <a:extLst>
                    <a:ext uri="{9D8B030D-6E8A-4147-A177-3AD203B41FA5}">
                      <a16:colId xmlns:a16="http://schemas.microsoft.com/office/drawing/2014/main" val="2713589660"/>
                    </a:ext>
                  </a:extLst>
                </a:gridCol>
                <a:gridCol w="2588799">
                  <a:extLst>
                    <a:ext uri="{9D8B030D-6E8A-4147-A177-3AD203B41FA5}">
                      <a16:colId xmlns:a16="http://schemas.microsoft.com/office/drawing/2014/main" val="3571737475"/>
                    </a:ext>
                  </a:extLst>
                </a:gridCol>
              </a:tblGrid>
              <a:tr h="433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</a:rPr>
                        <a:t>Dataset</a:t>
                      </a:r>
                      <a:endParaRPr lang="en-IN" sz="1000" b="1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Instances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Features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Defective Modules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</a:rPr>
                        <a:t>Description</a:t>
                      </a:r>
                      <a:endParaRPr lang="en-IN" sz="1000" b="1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6734"/>
                  </a:ext>
                </a:extLst>
              </a:tr>
              <a:tr h="271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CM1</a:t>
                      </a:r>
                      <a:endParaRPr lang="en-IN" sz="1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327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35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42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Spacecraft instrument (C language)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230873"/>
                  </a:ext>
                </a:extLst>
              </a:tr>
              <a:tr h="296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MC1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9,400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68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software modules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41695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MC2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5,200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Instrument control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223258"/>
                  </a:ext>
                </a:extLst>
              </a:tr>
              <a:tr h="245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MW1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403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27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Ground system monitoring software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814714"/>
                  </a:ext>
                </a:extLst>
              </a:tr>
              <a:tr h="2660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1,109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36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77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software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207100"/>
                  </a:ext>
                </a:extLst>
              </a:tr>
              <a:tr h="26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PC2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5,589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control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689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PC3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1,563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Ground data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7719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PC4</a:t>
                      </a:r>
                      <a:endParaRPr lang="en-IN" sz="1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1,458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178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Spacecraft dynamics model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61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7CFA13-A252-E2DF-CE0C-4CEB57D70D0C}"/>
              </a:ext>
            </a:extLst>
          </p:cNvPr>
          <p:cNvSpPr txBox="1"/>
          <p:nvPr/>
        </p:nvSpPr>
        <p:spPr>
          <a:xfrm>
            <a:off x="359625" y="1424646"/>
            <a:ext cx="218304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100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following datasets from the </a:t>
            </a:r>
            <a:r>
              <a:rPr lang="en-US" sz="1100" b="1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NASA PROMISE </a:t>
            </a:r>
            <a:r>
              <a:rPr lang="en-US" sz="1100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repository were used for evaluating the Reliable Explainable AI (XAI) Framework for Software Defect Prediction (SDP)</a:t>
            </a:r>
            <a:endParaRPr lang="en-IN" sz="1100" dirty="0">
              <a:latin typeface="Lexend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8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18" name="Google Shape;618;p48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6423600" cy="3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Pipeline: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(CM1, NASA PROMISE) → Preprocessing (SMOTE, normalization, feature cleanup) → Random Forest Model → SHAP Explanations → Reliability Evaluation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Approach Used: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Integrating SHAP: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 global &amp; local feature attributions.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Reliability Extensions: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Align SHAP ranks with loss sensitivity.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Validate if SHAP-top features truly affect loss under small nudges.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(ECE):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Assess probability reliability.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Composite Reliability Score: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Combines GLR, Hit@k, and Calibration for robust trust evaluation.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Benefits: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trustworthy explanations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beyond accuracy.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Validation of causal impact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SHAP features.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Improved confidence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developers &amp; stakeholders in defect predictions.</a:t>
            </a:r>
            <a:endParaRPr/>
          </a:p>
        </p:txBody>
      </p:sp>
      <p:pic>
        <p:nvPicPr>
          <p:cNvPr id="619" name="Google Shape;6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650" y="503463"/>
            <a:ext cx="1843931" cy="41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9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25" name="Google Shape;625;p49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5761200" cy="3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(SHapley Additive Explanations):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is a method from cooperative game theory that explains how much each feature contributes to a model’s prediction.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b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each prediction, SHAP calculates whether a feature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(positive SHAP value) or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(negative SHAP value) the chance of a defect.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LOC = +0.35 (increases defect risk), 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Comment Density = –0.12 (reduces defect risk)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Reliability: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SHAP gives explanations, they must also be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consistent across folds, stable across datasets, and reflective of true model behavior. That’s why your project extends SHAP with reliability checks (GLR, Hit@k, Calibration).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6" name="Google Shape;6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5950" y="351325"/>
            <a:ext cx="2540573" cy="413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0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32" name="Google Shape;632;p50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Gradient-of-Loss Reliability (GLR):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GLR checks if SHAP’s ranking of important features actually agrees with how the model’s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reacts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those features are nudged.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slightly increase and decrease its value by a tiny step ε\varepsilonε.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how much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(binary cross-entropy)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changes → this gives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sensitivity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that feature.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sensitivities across all features.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sensitivity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Spearman correlation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4744525" y="3319575"/>
            <a:ext cx="41514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The Metric: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ρ≈1: SHAP agrees with loss sensitivity → 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ρ≈0: No agreement → unreliable.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ρ&lt;0: Opposite ordering → misleading.</a:t>
            </a:r>
            <a:endParaRPr/>
          </a:p>
        </p:txBody>
      </p:sp>
      <p:pic>
        <p:nvPicPr>
          <p:cNvPr id="634" name="Google Shape;6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50" y="3556625"/>
            <a:ext cx="2735350" cy="8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1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0" name="Google Shape;640;p51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ε-Hit@k checks whether the features that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says are most important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prediction are also the ones that actually make the model’s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increase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we nudge them slightly.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SHAP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add a tiny perturbation ε (e.g., 0.001) and compute the change in loss (Δℓ).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 features by Δℓ and take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sensitivity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Tₖ ∩ Dₖ ≠ ∅ → it’s a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(1)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else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(0)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hits across samples → ε-Hit@k score.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1"/>
          <p:cNvSpPr txBox="1"/>
          <p:nvPr/>
        </p:nvSpPr>
        <p:spPr>
          <a:xfrm>
            <a:off x="1761225" y="3319575"/>
            <a:ext cx="65328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Interpretation: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High ε-Hit@k:</a:t>
            </a:r>
            <a:r>
              <a:rPr lang="en-GB" sz="1100">
                <a:solidFill>
                  <a:schemeClr val="dk1"/>
                </a:solidFill>
              </a:rPr>
              <a:t> SHAP’s top features are truly impactful → 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Low ε-Hit@k:</a:t>
            </a:r>
            <a:r>
              <a:rPr lang="en-GB" sz="1100">
                <a:solidFill>
                  <a:schemeClr val="dk1"/>
                </a:solidFill>
              </a:rPr>
              <a:t> SHAP highlights features that don’t change the model’s behavior → unreliable.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2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7" name="Google Shape;647;p52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6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Calibration: Expected Calibration Error (ECE)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 checks how well a model’s predicted probabilities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reality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well-calibrated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saying “70% chance of defect” will actually be correct ~70% of the time.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over-confident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might say 70% but be right only 50%.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predictions into probability bins (e.g., 0–0.2, 0.2–0.4, …).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bin, compare: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average predicted probability.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actual fraction of positives.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the average gap between confidence and accuracy → this is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2"/>
          <p:cNvSpPr txBox="1"/>
          <p:nvPr/>
        </p:nvSpPr>
        <p:spPr>
          <a:xfrm>
            <a:off x="2012825" y="3463275"/>
            <a:ext cx="62004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Interpretation: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ECE ≈ 0:</a:t>
            </a:r>
            <a:r>
              <a:rPr lang="en-GB" sz="1100">
                <a:solidFill>
                  <a:schemeClr val="dk1"/>
                </a:solidFill>
              </a:rPr>
              <a:t> Model is perfectly calibrated → predictions can be trusted.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Higher ECE:</a:t>
            </a:r>
            <a:r>
              <a:rPr lang="en-GB" sz="1100">
                <a:solidFill>
                  <a:schemeClr val="dk1"/>
                </a:solidFill>
              </a:rPr>
              <a:t> Model is miscalibrated → predictions are over- or under-confident.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3"/>
          <p:cNvSpPr txBox="1">
            <a:spLocks noGrp="1"/>
          </p:cNvSpPr>
          <p:nvPr>
            <p:ph type="title"/>
          </p:nvPr>
        </p:nvSpPr>
        <p:spPr>
          <a:xfrm>
            <a:off x="421200" y="125800"/>
            <a:ext cx="8358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Implementation:</a:t>
            </a:r>
            <a:endParaRPr/>
          </a:p>
        </p:txBody>
      </p:sp>
      <p:pic>
        <p:nvPicPr>
          <p:cNvPr id="654" name="Google Shape;6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76" y="790350"/>
            <a:ext cx="6009374" cy="41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3"/>
          <p:cNvSpPr txBox="1"/>
          <p:nvPr/>
        </p:nvSpPr>
        <p:spPr>
          <a:xfrm>
            <a:off x="6010700" y="65595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>
                <a:solidFill>
                  <a:schemeClr val="dk1"/>
                </a:solidFill>
              </a:rPr>
              <a:t>Class Imbalance: </a:t>
            </a:r>
            <a:r>
              <a:rPr lang="en-GB" sz="1100">
                <a:solidFill>
                  <a:schemeClr val="dk1"/>
                </a:solidFill>
              </a:rPr>
              <a:t>SMOTE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>
                <a:solidFill>
                  <a:schemeClr val="dk1"/>
                </a:solidFill>
              </a:rPr>
              <a:t>Model</a:t>
            </a:r>
            <a:r>
              <a:rPr lang="en-GB" sz="1100">
                <a:solidFill>
                  <a:schemeClr val="dk1"/>
                </a:solidFill>
              </a:rPr>
              <a:t> - Random Forest Classifier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>
                <a:solidFill>
                  <a:schemeClr val="dk1"/>
                </a:solidFill>
              </a:rPr>
              <a:t>SHAP</a:t>
            </a:r>
            <a:r>
              <a:rPr lang="en-GB" sz="1100">
                <a:solidFill>
                  <a:schemeClr val="dk1"/>
                </a:solidFill>
              </a:rPr>
              <a:t> - TreeExplainer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4"/>
          <p:cNvSpPr txBox="1">
            <a:spLocks noGrp="1"/>
          </p:cNvSpPr>
          <p:nvPr>
            <p:ph type="title"/>
          </p:nvPr>
        </p:nvSpPr>
        <p:spPr>
          <a:xfrm>
            <a:off x="421200" y="125800"/>
            <a:ext cx="8358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29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 Implementation:</a:t>
            </a:r>
            <a:endParaRPr/>
          </a:p>
        </p:txBody>
      </p:sp>
      <p:sp>
        <p:nvSpPr>
          <p:cNvPr id="661" name="Google Shape;661;p54"/>
          <p:cNvSpPr txBox="1"/>
          <p:nvPr/>
        </p:nvSpPr>
        <p:spPr>
          <a:xfrm>
            <a:off x="5409475" y="655950"/>
            <a:ext cx="36012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</a:t>
            </a:r>
            <a:endParaRPr sz="11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 sz="11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(Expected Calibration Error)</a:t>
            </a:r>
            <a:endParaRPr sz="11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00" y="125800"/>
            <a:ext cx="4088926" cy="480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>
            <a:spLocks noGrp="1"/>
          </p:cNvSpPr>
          <p:nvPr>
            <p:ph type="title"/>
          </p:nvPr>
        </p:nvSpPr>
        <p:spPr>
          <a:xfrm>
            <a:off x="413179" y="273032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pic>
        <p:nvPicPr>
          <p:cNvPr id="668" name="Google Shape;66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874" y="860537"/>
            <a:ext cx="7021400" cy="35771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FC254375-AB5B-5E9A-E0DB-1D6FE8A7A60E}"/>
              </a:ext>
            </a:extLst>
          </p:cNvPr>
          <p:cNvSpPr txBox="1">
            <a:spLocks/>
          </p:cNvSpPr>
          <p:nvPr/>
        </p:nvSpPr>
        <p:spPr>
          <a:xfrm>
            <a:off x="2443924" y="4437638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dirty="0"/>
              <a:t>Figure:</a:t>
            </a:r>
            <a:r>
              <a:rPr lang="en-US" sz="1000" dirty="0"/>
              <a:t> Top 10 most influential software metrics identified by SHAP for the CM1 dataset using the Random Forest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/>
          <p:cNvSpPr txBox="1">
            <a:spLocks noGrp="1"/>
          </p:cNvSpPr>
          <p:nvPr>
            <p:ph type="title"/>
          </p:nvPr>
        </p:nvSpPr>
        <p:spPr>
          <a:xfrm>
            <a:off x="421200" y="263925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9C01C-8DB4-1B9D-3169-0796541AA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13969"/>
              </p:ext>
            </p:extLst>
          </p:nvPr>
        </p:nvGraphicFramePr>
        <p:xfrm>
          <a:off x="1604450" y="1453444"/>
          <a:ext cx="6009374" cy="2903879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729916">
                  <a:extLst>
                    <a:ext uri="{9D8B030D-6E8A-4147-A177-3AD203B41FA5}">
                      <a16:colId xmlns:a16="http://schemas.microsoft.com/office/drawing/2014/main" val="321735917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3666104926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3152369547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353243691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867950798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1581667756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1600395259"/>
                    </a:ext>
                  </a:extLst>
                </a:gridCol>
                <a:gridCol w="648903">
                  <a:extLst>
                    <a:ext uri="{9D8B030D-6E8A-4147-A177-3AD203B41FA5}">
                      <a16:colId xmlns:a16="http://schemas.microsoft.com/office/drawing/2014/main" val="2836438725"/>
                    </a:ext>
                  </a:extLst>
                </a:gridCol>
                <a:gridCol w="737137">
                  <a:extLst>
                    <a:ext uri="{9D8B030D-6E8A-4147-A177-3AD203B41FA5}">
                      <a16:colId xmlns:a16="http://schemas.microsoft.com/office/drawing/2014/main" val="1126909271"/>
                    </a:ext>
                  </a:extLst>
                </a:gridCol>
              </a:tblGrid>
              <a:tr h="3872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Model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AUC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F1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Precision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Recall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Generalizability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Concordance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Stability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Reliability Index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758958"/>
                  </a:ext>
                </a:extLst>
              </a:tr>
              <a:tr h="2544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Adaboost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0.32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0.26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0.58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0.67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0.63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0.88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31308"/>
                  </a:ext>
                </a:extLst>
              </a:tr>
              <a:tr h="2544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CatBoost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0.38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0.39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0.49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0.69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0.86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768908"/>
                  </a:ext>
                </a:extLst>
              </a:tr>
              <a:tr h="260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Extra Trees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0.36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0.32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0.49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0.38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0.82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0.87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018794"/>
                  </a:ext>
                </a:extLst>
              </a:tr>
              <a:tr h="3282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Gradient Boosting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0.81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0.38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0.37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0.53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0.64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0.86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002687"/>
                  </a:ext>
                </a:extLst>
              </a:tr>
              <a:tr h="2544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LightGBM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0.38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0.54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0.71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0.88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974272"/>
                  </a:ext>
                </a:extLst>
              </a:tr>
              <a:tr h="258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MLP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0.66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0.20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0.14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0.74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0.45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0.57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0.84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1413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Random Forest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0.85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0.37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0.36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0.41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0.77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0.87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858450"/>
                  </a:ext>
                </a:extLst>
              </a:tr>
              <a:tr h="2544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XGBoost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0.83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0.39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0.43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0.38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0.55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Lexend" panose="020B0604020202020204" charset="0"/>
                        </a:rPr>
                        <a:t>0.71</a:t>
                      </a:r>
                      <a:endParaRPr lang="en-IN" sz="90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Lexend" panose="020B0604020202020204" charset="0"/>
                        </a:rPr>
                        <a:t>0.88</a:t>
                      </a:r>
                      <a:endParaRPr lang="en-IN" sz="90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215651"/>
                  </a:ext>
                </a:extLst>
              </a:tr>
              <a:tr h="260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Overall Mean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0.81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0.35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0.34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  <a:latin typeface="Lexend" panose="020B0604020202020204" charset="0"/>
                        </a:rPr>
                        <a:t>0.47</a:t>
                      </a:r>
                      <a:endParaRPr lang="en-IN" sz="9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1.00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0.51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  <a:latin typeface="Lexend" panose="020B0604020202020204" charset="0"/>
                        </a:rPr>
                        <a:t>0.69</a:t>
                      </a:r>
                      <a:endParaRPr lang="en-IN" sz="900" b="1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effectLst/>
                          <a:latin typeface="Lexend" panose="020B0604020202020204" charset="0"/>
                        </a:rPr>
                        <a:t>0.87</a:t>
                      </a:r>
                      <a:endParaRPr lang="en-IN" sz="900" b="1" dirty="0">
                        <a:solidFill>
                          <a:srgbClr val="FF0000"/>
                        </a:solidFill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2234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7B7757-0410-947D-5CEE-F62B18F18AE0}"/>
              </a:ext>
            </a:extLst>
          </p:cNvPr>
          <p:cNvSpPr txBox="1"/>
          <p:nvPr/>
        </p:nvSpPr>
        <p:spPr>
          <a:xfrm>
            <a:off x="421200" y="72402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Current Approach (Generalized Framework)</a:t>
            </a:r>
            <a:endParaRPr lang="en-US" sz="1100" dirty="0">
              <a:latin typeface="Lexend" panose="020B0604020202020204" charset="0"/>
            </a:endParaRPr>
          </a:p>
          <a:p>
            <a:pPr rtl="0">
              <a:spcBef>
                <a:spcPts val="1200"/>
              </a:spcBef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Reliability Metrics:</a:t>
            </a:r>
            <a:r>
              <a:rPr lang="en-US" sz="1100" b="1" dirty="0">
                <a:latin typeface="Lexend" panose="020B0604020202020204" charset="0"/>
              </a:rPr>
              <a:t> 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Generalizability, Concordance, Stability</a:t>
            </a:r>
            <a:endParaRPr lang="en-US" sz="1100" dirty="0">
              <a:latin typeface="Lexend" panose="020B0604020202020204" charset="0"/>
            </a:endParaRPr>
          </a:p>
        </p:txBody>
      </p:sp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43FD1EC9-F0D9-0E53-6840-6FAD9E7848BE}"/>
              </a:ext>
            </a:extLst>
          </p:cNvPr>
          <p:cNvSpPr txBox="1">
            <a:spLocks/>
          </p:cNvSpPr>
          <p:nvPr/>
        </p:nvSpPr>
        <p:spPr>
          <a:xfrm>
            <a:off x="2482350" y="4486275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Performance evaluation of existing approach using various models on software defect prediction datasets, showing mean values across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5947D3C6-D94A-CC16-F95E-E4283CDB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>
            <a:extLst>
              <a:ext uri="{FF2B5EF4-FFF2-40B4-BE49-F238E27FC236}">
                <a16:creationId xmlns:a16="http://schemas.microsoft.com/office/drawing/2014/main" id="{BCC6E0EF-B994-CAC5-30BB-A66CA6363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200" y="265011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B6E23-2317-C735-7960-FA3DB069EC5A}"/>
              </a:ext>
            </a:extLst>
          </p:cNvPr>
          <p:cNvSpPr txBox="1"/>
          <p:nvPr/>
        </p:nvSpPr>
        <p:spPr>
          <a:xfrm>
            <a:off x="421200" y="730631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buNone/>
            </a:pPr>
            <a:r>
              <a:rPr lang="en-US" sz="1100" b="1" dirty="0">
                <a:latin typeface="Lexend" panose="020B0604020202020204" charset="0"/>
              </a:rPr>
              <a:t>Proposed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 Approach (GLR Framework)</a:t>
            </a:r>
            <a:endParaRPr lang="en-US" sz="1100" b="0" dirty="0">
              <a:effectLst/>
              <a:latin typeface="Lexend" panose="020B0604020202020204" charset="0"/>
            </a:endParaRPr>
          </a:p>
          <a:p>
            <a:pPr fontAlgn="base"/>
            <a:endParaRPr lang="en-US" sz="1100" b="1" i="0" u="none" strike="noStrike" dirty="0">
              <a:solidFill>
                <a:srgbClr val="000000"/>
              </a:solidFill>
              <a:effectLst/>
              <a:latin typeface="Lexend" panose="020B0604020202020204" charset="0"/>
            </a:endParaRPr>
          </a:p>
          <a:p>
            <a:pPr fontAlgn="base"/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Reliability Metrics:</a:t>
            </a:r>
            <a:r>
              <a:rPr lang="en-US" sz="1100" b="1" dirty="0">
                <a:latin typeface="Lexend" panose="020B0604020202020204" charset="0"/>
              </a:rPr>
              <a:t> 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GLR Mean, </a:t>
            </a:r>
            <a:r>
              <a:rPr lang="en-US" sz="1100" dirty="0">
                <a:latin typeface="Lexend" panose="020B0604020202020204" charset="0"/>
              </a:rPr>
              <a:t>Hit@10, ECE</a:t>
            </a:r>
          </a:p>
          <a:p>
            <a:pPr rtl="0" fontAlgn="base">
              <a:spcBef>
                <a:spcPts val="1200"/>
              </a:spcBef>
            </a:pPr>
            <a:endParaRPr lang="en-US" sz="1100" dirty="0">
              <a:latin typeface="Lexend" panose="020B060402020202020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7B7D24-465D-21B5-8EF0-E81864472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339840"/>
              </p:ext>
            </p:extLst>
          </p:nvPr>
        </p:nvGraphicFramePr>
        <p:xfrm>
          <a:off x="1612232" y="1443936"/>
          <a:ext cx="6505074" cy="2840996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722317">
                  <a:extLst>
                    <a:ext uri="{9D8B030D-6E8A-4147-A177-3AD203B41FA5}">
                      <a16:colId xmlns:a16="http://schemas.microsoft.com/office/drawing/2014/main" val="2427013497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2280409314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1056872475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2399993661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1053704615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969193494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3792303681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3117094761"/>
                    </a:ext>
                  </a:extLst>
                </a:gridCol>
                <a:gridCol w="630943">
                  <a:extLst>
                    <a:ext uri="{9D8B030D-6E8A-4147-A177-3AD203B41FA5}">
                      <a16:colId xmlns:a16="http://schemas.microsoft.com/office/drawing/2014/main" val="2426793705"/>
                    </a:ext>
                  </a:extLst>
                </a:gridCol>
                <a:gridCol w="735213">
                  <a:extLst>
                    <a:ext uri="{9D8B030D-6E8A-4147-A177-3AD203B41FA5}">
                      <a16:colId xmlns:a16="http://schemas.microsoft.com/office/drawing/2014/main" val="1043172075"/>
                    </a:ext>
                  </a:extLst>
                </a:gridCol>
              </a:tblGrid>
              <a:tr h="3637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Model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AUC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F1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Precision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Recall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Brier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GLR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Hit@10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ECE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</a:rPr>
                        <a:t>Reliability Score</a:t>
                      </a:r>
                      <a:endParaRPr lang="en-IN" sz="9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242780"/>
                  </a:ext>
                </a:extLst>
              </a:tr>
              <a:tr h="238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Adaboost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0.77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0.33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0.50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0.18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0.84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445044"/>
                  </a:ext>
                </a:extLst>
              </a:tr>
              <a:tr h="238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CatBoost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0.84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0.40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0.12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0.83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96197"/>
                  </a:ext>
                </a:extLst>
              </a:tr>
              <a:tr h="2699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Extra Trees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0.83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0.40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0.06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0.06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0.82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035179"/>
                  </a:ext>
                </a:extLst>
              </a:tr>
              <a:tr h="3561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Gradient Boosting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0.81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0.40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0.13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0.83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442676"/>
                  </a:ext>
                </a:extLst>
              </a:tr>
              <a:tr h="238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LightGBM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0.83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0.45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0.21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0.84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18173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MLP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0.76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0.34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0.29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0.11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0.11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0.83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934267"/>
                  </a:ext>
                </a:extLst>
              </a:tr>
              <a:tr h="2960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Random Forest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0.85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0.06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0.06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0.82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168287"/>
                  </a:ext>
                </a:extLst>
              </a:tr>
              <a:tr h="238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XGBoost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0.83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0.39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0.44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0.37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0.08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0.16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1.00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0.07</a:t>
                      </a:r>
                      <a:endParaRPr lang="en-IN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0.84</a:t>
                      </a:r>
                      <a:endParaRPr lang="en-IN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962172"/>
                  </a:ext>
                </a:extLst>
              </a:tr>
              <a:tr h="2699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</a:rPr>
                        <a:t>Overall Mean</a:t>
                      </a:r>
                      <a:endParaRPr lang="en-IN" sz="9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0.82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0.37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0.39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0.38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0.09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0.13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1.00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effectLst/>
                        </a:rPr>
                        <a:t>0.07</a:t>
                      </a:r>
                      <a:endParaRPr lang="en-IN" sz="9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effectLst/>
                        </a:rPr>
                        <a:t>0.83</a:t>
                      </a:r>
                      <a:endParaRPr lang="en-IN" sz="9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866" marR="5486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426313"/>
                  </a:ext>
                </a:extLst>
              </a:tr>
            </a:tbl>
          </a:graphicData>
        </a:graphic>
      </p:graphicFrame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B68E8B97-6FF8-8924-C0E3-802987F933A6}"/>
              </a:ext>
            </a:extLst>
          </p:cNvPr>
          <p:cNvSpPr txBox="1">
            <a:spLocks/>
          </p:cNvSpPr>
          <p:nvPr/>
        </p:nvSpPr>
        <p:spPr>
          <a:xfrm>
            <a:off x="2482350" y="4486275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Performance evaluation of proposed approach using various models on software defect prediction datasets, showing mean values across metrics</a:t>
            </a:r>
          </a:p>
        </p:txBody>
      </p:sp>
    </p:spTree>
    <p:extLst>
      <p:ext uri="{BB962C8B-B14F-4D97-AF65-F5344CB8AC3E}">
        <p14:creationId xmlns:p14="http://schemas.microsoft.com/office/powerpoint/2010/main" val="346895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7672A376-7EFF-580E-AD3E-541A0753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>
            <a:extLst>
              <a:ext uri="{FF2B5EF4-FFF2-40B4-BE49-F238E27FC236}">
                <a16:creationId xmlns:a16="http://schemas.microsoft.com/office/drawing/2014/main" id="{C94076E8-8132-6B8E-5EDF-280AC04D0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1A01E-E106-2FAA-FD8A-3FCE8461CCAD}"/>
                  </a:ext>
                </a:extLst>
              </p:cNvPr>
              <p:cNvSpPr txBox="1"/>
              <p:nvPr/>
            </p:nvSpPr>
            <p:spPr>
              <a:xfrm>
                <a:off x="421200" y="1003347"/>
                <a:ext cx="7030358" cy="1092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3">
                  <a:spcBef>
                    <a:spcPts val="1200"/>
                  </a:spcBef>
                </a:pPr>
                <a:r>
                  <a:rPr lang="en-US" sz="1100" dirty="0">
                    <a:latin typeface="Lexend" panose="020B0604020202020204" charset="0"/>
                  </a:rPr>
                  <a:t>The </a:t>
                </a:r>
                <a:r>
                  <a:rPr lang="en-US" sz="1100" b="1" dirty="0">
                    <a:latin typeface="Lexend" panose="020B0604020202020204" charset="0"/>
                  </a:rPr>
                  <a:t>Wilcoxon Signed-Rank test</a:t>
                </a:r>
                <a:r>
                  <a:rPr lang="en-US" sz="1100" dirty="0">
                    <a:latin typeface="Lexend" panose="020B0604020202020204" charset="0"/>
                  </a:rPr>
                  <a:t> revealed a significant difference between the baseline and proposed reliability approaches, with most models showing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≤0.05</m:t>
                    </m:r>
                  </m:oMath>
                </a14:m>
                <a:r>
                  <a:rPr lang="en-US" sz="1100" dirty="0">
                    <a:latin typeface="Lexend" panose="020B0604020202020204" charset="0"/>
                  </a:rPr>
                  <a:t>.</a:t>
                </a:r>
                <a:br>
                  <a:rPr lang="en-US" sz="1100" dirty="0">
                    <a:latin typeface="Lexend" panose="020B0604020202020204" charset="0"/>
                  </a:rPr>
                </a:br>
                <a:endParaRPr lang="en-US" sz="1100" dirty="0">
                  <a:latin typeface="Lexend" panose="020B0604020202020204" charset="0"/>
                </a:endParaRPr>
              </a:p>
              <a:p>
                <a:pPr lvl="3">
                  <a:spcBef>
                    <a:spcPts val="1200"/>
                  </a:spcBef>
                </a:pPr>
                <a:r>
                  <a:rPr lang="en-US" sz="1100" dirty="0">
                    <a:latin typeface="Lexend" panose="020B0604020202020204" charset="0"/>
                  </a:rPr>
                  <a:t>Overall, the proposed framework demonstrated statistically consistent reliability improvements across models.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1A01E-E106-2FAA-FD8A-3FCE8461C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00" y="1003347"/>
                <a:ext cx="7030358" cy="1092607"/>
              </a:xfrm>
              <a:prstGeom prst="rect">
                <a:avLst/>
              </a:prstGeom>
              <a:blipFill>
                <a:blip r:embed="rId3"/>
                <a:stretch>
                  <a:fillRect b="-33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FCA429-4C96-7D49-81AB-899A0E203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149406"/>
              </p:ext>
            </p:extLst>
          </p:nvPr>
        </p:nvGraphicFramePr>
        <p:xfrm>
          <a:off x="2318083" y="2257925"/>
          <a:ext cx="5919536" cy="2229856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1479884">
                  <a:extLst>
                    <a:ext uri="{9D8B030D-6E8A-4147-A177-3AD203B41FA5}">
                      <a16:colId xmlns:a16="http://schemas.microsoft.com/office/drawing/2014/main" val="830377885"/>
                    </a:ext>
                  </a:extLst>
                </a:gridCol>
                <a:gridCol w="1255296">
                  <a:extLst>
                    <a:ext uri="{9D8B030D-6E8A-4147-A177-3AD203B41FA5}">
                      <a16:colId xmlns:a16="http://schemas.microsoft.com/office/drawing/2014/main" val="3907742369"/>
                    </a:ext>
                  </a:extLst>
                </a:gridCol>
                <a:gridCol w="1275348">
                  <a:extLst>
                    <a:ext uri="{9D8B030D-6E8A-4147-A177-3AD203B41FA5}">
                      <a16:colId xmlns:a16="http://schemas.microsoft.com/office/drawing/2014/main" val="3715268295"/>
                    </a:ext>
                  </a:extLst>
                </a:gridCol>
                <a:gridCol w="1909008">
                  <a:extLst>
                    <a:ext uri="{9D8B030D-6E8A-4147-A177-3AD203B41FA5}">
                      <a16:colId xmlns:a16="http://schemas.microsoft.com/office/drawing/2014/main" val="2711977618"/>
                    </a:ext>
                  </a:extLst>
                </a:gridCol>
              </a:tblGrid>
              <a:tr h="382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 dirty="0">
                          <a:effectLst/>
                        </a:rPr>
                        <a:t>Model</a:t>
                      </a:r>
                      <a:endParaRPr lang="en-IN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W Statistic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p-value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 dirty="0">
                          <a:effectLst/>
                        </a:rPr>
                        <a:t>Significance (p ≤ 0.05)</a:t>
                      </a:r>
                      <a:endParaRPr lang="en-IN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253934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Adaboost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12.00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0.04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660420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CatBoost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10.00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776030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Extra Trees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0.07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Not 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141316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Gradient Boosting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9.00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Marginal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851323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LightGBM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13.00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0.04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090429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MLP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11.00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0.05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545015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Random Forest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0.07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Not 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095188"/>
                  </a:ext>
                </a:extLst>
              </a:tr>
              <a:tr h="182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XGBoost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14.00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0.04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Significant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556628"/>
                  </a:ext>
                </a:extLst>
              </a:tr>
              <a:tr h="382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 dirty="0">
                          <a:effectLst/>
                        </a:rPr>
                        <a:t>Overall (Avg)</a:t>
                      </a:r>
                      <a:endParaRPr lang="en-IN" sz="11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10.50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</a:rPr>
                        <a:t>0.05</a:t>
                      </a:r>
                      <a:endParaRPr lang="en-IN" sz="11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2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</a:rPr>
                        <a:t>Significant Difference</a:t>
                      </a:r>
                      <a:endParaRPr lang="en-IN" sz="11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172542"/>
                  </a:ext>
                </a:extLst>
              </a:tr>
            </a:tbl>
          </a:graphicData>
        </a:graphic>
      </p:graphicFrame>
      <p:sp>
        <p:nvSpPr>
          <p:cNvPr id="3" name="Google Shape;611;p47">
            <a:extLst>
              <a:ext uri="{FF2B5EF4-FFF2-40B4-BE49-F238E27FC236}">
                <a16:creationId xmlns:a16="http://schemas.microsoft.com/office/drawing/2014/main" id="{25FD796F-6EA4-F372-0698-45F2FCAB5488}"/>
              </a:ext>
            </a:extLst>
          </p:cNvPr>
          <p:cNvSpPr txBox="1">
            <a:spLocks/>
          </p:cNvSpPr>
          <p:nvPr/>
        </p:nvSpPr>
        <p:spPr>
          <a:xfrm>
            <a:off x="3000750" y="4487781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Wilcoxon Signed-Rank (WSR) Test Results Comparing Reliability Scores of Current and Proposed Approaches.</a:t>
            </a:r>
          </a:p>
        </p:txBody>
      </p:sp>
    </p:spTree>
    <p:extLst>
      <p:ext uri="{BB962C8B-B14F-4D97-AF65-F5344CB8AC3E}">
        <p14:creationId xmlns:p14="http://schemas.microsoft.com/office/powerpoint/2010/main" val="2115267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>
            <a:spLocks noGrp="1"/>
          </p:cNvSpPr>
          <p:nvPr>
            <p:ph type="title"/>
          </p:nvPr>
        </p:nvSpPr>
        <p:spPr>
          <a:xfrm>
            <a:off x="458275" y="867025"/>
            <a:ext cx="6974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Percentage of Work Completed &amp; Summary</a:t>
            </a:r>
            <a:endParaRPr/>
          </a:p>
        </p:txBody>
      </p:sp>
      <p:sp>
        <p:nvSpPr>
          <p:cNvPr id="681" name="Google Shape;681;p57"/>
          <p:cNvSpPr txBox="1">
            <a:spLocks noGrp="1"/>
          </p:cNvSpPr>
          <p:nvPr>
            <p:ph type="body" idx="1"/>
          </p:nvPr>
        </p:nvSpPr>
        <p:spPr>
          <a:xfrm>
            <a:off x="458275" y="1589800"/>
            <a:ext cx="8067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Completed: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sz="1000" dirty="0">
                <a:latin typeface="Lexend" panose="020B0604020202020204" charset="0"/>
              </a:rPr>
              <a:t>Implemented </a:t>
            </a:r>
            <a:r>
              <a:rPr lang="en-US" sz="1000" b="1" dirty="0">
                <a:latin typeface="Lexend" panose="020B0604020202020204" charset="0"/>
              </a:rPr>
              <a:t>Current Approach</a:t>
            </a:r>
            <a:r>
              <a:rPr lang="en-US" sz="1000" dirty="0">
                <a:latin typeface="Lexend" panose="020B0604020202020204" charset="0"/>
              </a:rPr>
              <a:t> (Generalizability, Concordance, Stability) and </a:t>
            </a:r>
            <a:r>
              <a:rPr lang="en-US" sz="1000" b="1" dirty="0">
                <a:latin typeface="Lexend" panose="020B0604020202020204" charset="0"/>
              </a:rPr>
              <a:t>Proposed Approach</a:t>
            </a:r>
            <a:r>
              <a:rPr lang="en-US" sz="1000" dirty="0">
                <a:latin typeface="Lexend" panose="020B0604020202020204" charset="0"/>
              </a:rPr>
              <a:t> (GLR, ε-Perturbation </a:t>
            </a:r>
            <a:r>
              <a:rPr lang="en-US" sz="1000" dirty="0" err="1">
                <a:latin typeface="Lexend" panose="020B0604020202020204" charset="0"/>
              </a:rPr>
              <a:t>Hit@k</a:t>
            </a:r>
            <a:r>
              <a:rPr lang="en-US" sz="1000" dirty="0">
                <a:latin typeface="Lexend" panose="020B0604020202020204" charset="0"/>
              </a:rPr>
              <a:t>, Calibration) using Random Forest.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sz="1000" dirty="0">
                <a:latin typeface="Lexend" panose="020B0604020202020204" charset="0"/>
              </a:rPr>
              <a:t>Evaluated and compared both methods (</a:t>
            </a:r>
            <a:r>
              <a:rPr lang="en-US" sz="1000" b="1" dirty="0">
                <a:latin typeface="Lexend" panose="020B0604020202020204" charset="0"/>
              </a:rPr>
              <a:t>Reliability Index vs Reliability Score</a:t>
            </a:r>
            <a:r>
              <a:rPr lang="en-US" sz="1000" dirty="0">
                <a:latin typeface="Lexend" panose="020B0604020202020204" charset="0"/>
              </a:rPr>
              <a:t>) and documented results with visualizations (SHAP, reliability metrics).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sz="1000" b="1" dirty="0">
                <a:latin typeface="Lexend" panose="020B0604020202020204" charset="0"/>
              </a:rPr>
              <a:t>Wilcoxon Signed-Rank Test</a:t>
            </a:r>
            <a:r>
              <a:rPr lang="en-US" sz="1000" dirty="0">
                <a:latin typeface="Lexend" panose="020B0604020202020204" charset="0"/>
              </a:rPr>
              <a:t> confirmed a </a:t>
            </a:r>
            <a:r>
              <a:rPr lang="en-US" sz="1000" b="1" dirty="0">
                <a:latin typeface="Lexend" panose="020B0604020202020204" charset="0"/>
              </a:rPr>
              <a:t>significant difference (p ≤ 0.05)</a:t>
            </a:r>
            <a:r>
              <a:rPr lang="en-US" sz="1000" dirty="0">
                <a:latin typeface="Lexend" panose="020B0604020202020204" charset="0"/>
              </a:rPr>
              <a:t> between baseline and proposed approaches.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7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8"/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Next Steps</a:t>
            </a:r>
            <a:endParaRPr dirty="0"/>
          </a:p>
        </p:txBody>
      </p:sp>
      <p:sp>
        <p:nvSpPr>
          <p:cNvPr id="689" name="Google Shape;689;p58"/>
          <p:cNvSpPr txBox="1">
            <a:spLocks noGrp="1"/>
          </p:cNvSpPr>
          <p:nvPr>
            <p:ph type="body" idx="1"/>
          </p:nvPr>
        </p:nvSpPr>
        <p:spPr>
          <a:xfrm>
            <a:off x="611050" y="1136300"/>
            <a:ext cx="76470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Work: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indent="-171450">
              <a:spcBef>
                <a:spcPts val="1200"/>
              </a:spcBef>
            </a:pPr>
            <a:r>
              <a:rPr lang="en-US" dirty="0"/>
              <a:t>Enhance the </a:t>
            </a:r>
            <a:r>
              <a:rPr lang="en-US" b="1" dirty="0"/>
              <a:t>Proposed Approach</a:t>
            </a:r>
            <a:r>
              <a:rPr lang="en-US" dirty="0"/>
              <a:t> significance for the remaining models.</a:t>
            </a:r>
          </a:p>
          <a:p>
            <a:pPr marL="171450" indent="-171450">
              <a:spcBef>
                <a:spcPts val="1200"/>
              </a:spcBef>
            </a:pPr>
            <a:r>
              <a:rPr lang="en-US" b="1" dirty="0"/>
              <a:t>Extend evaluation to cross-project datasets</a:t>
            </a:r>
            <a:r>
              <a:rPr lang="en-US" dirty="0"/>
              <a:t> for generalization and robustness testing.</a:t>
            </a:r>
          </a:p>
          <a:p>
            <a:pPr marL="0" lvl="0" indent="0">
              <a:spcBef>
                <a:spcPts val="1200"/>
              </a:spcBef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8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>
            <a:spLocks noGrp="1"/>
          </p:cNvSpPr>
          <p:nvPr>
            <p:ph type="title"/>
          </p:nvPr>
        </p:nvSpPr>
        <p:spPr>
          <a:xfrm>
            <a:off x="631125" y="315400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/>
              <a:t>References:</a:t>
            </a:r>
            <a:endParaRPr/>
          </a:p>
        </p:txBody>
      </p:sp>
      <p:sp>
        <p:nvSpPr>
          <p:cNvPr id="696" name="Google Shape;696;p59"/>
          <p:cNvSpPr txBox="1"/>
          <p:nvPr/>
        </p:nvSpPr>
        <p:spPr>
          <a:xfrm>
            <a:off x="460950" y="862600"/>
            <a:ext cx="6862500" cy="3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Ketata, F., Al Masry, Z., Yacoub, S., &amp; Zerhouni, N.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"A Methodology for Reliability Analysis of Explainable Machine Learning: Application to Endocrinology Diseases."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2024. DOI: 10.1109/ACCESS.2024.3431691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Begum, M., Shuvo, M. H., Nasir, M. K., Hossain, A., Hossain, M. J., Ashraf, I., Uddin, J., &amp; Samad, M. A.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"LCNN: Lightweight CNN Architecture for Software Defect Feature Identification Using Explainable AI."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2024. DOI: 10.1109/ACCESS.2024.3388489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Lin, A., Fang, T., Yao, J., &amp; Xu, B.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"Understanding Software Defect Prediction Through eXplainable Neural Additive Models."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arXiv preprint</a:t>
            </a:r>
            <a:r>
              <a:rPr lang="en-GB" sz="1100">
                <a:solidFill>
                  <a:schemeClr val="dk1"/>
                </a:solidFill>
              </a:rPr>
              <a:t>, arXiv:2306.08655, 2023.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Zhang, Y., Zhang, Y., Huang, Y., &amp; Chen, G.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"Software Defects Identification: Results Using Machine Learning and Explainable Artificial Intelligence Techniques."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Journal of Systems and Software Engineering</a:t>
            </a:r>
            <a:r>
              <a:rPr lang="en-GB" sz="1100">
                <a:solidFill>
                  <a:schemeClr val="dk1"/>
                </a:solidFill>
              </a:rPr>
              <a:t>, 2024.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Yao, J., Lin, A., Chen, G., &amp; Fang, T.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b="1">
                <a:solidFill>
                  <a:schemeClr val="dk1"/>
                </a:solidFill>
              </a:rPr>
              <a:t>"Towards Trustworthy Explainable AI for Software Defect Prediction."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i="1">
                <a:solidFill>
                  <a:schemeClr val="dk1"/>
                </a:solidFill>
              </a:rPr>
              <a:t>Proceedings of the IEEE International Conference on Software Engineering (ICSE)</a:t>
            </a:r>
            <a:r>
              <a:rPr lang="en-GB" sz="1100">
                <a:solidFill>
                  <a:schemeClr val="dk1"/>
                </a:solidFill>
              </a:rPr>
              <a:t>, 2024. 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0"/>
          <p:cNvSpPr txBox="1">
            <a:spLocks noGrp="1"/>
          </p:cNvSpPr>
          <p:nvPr>
            <p:ph type="title"/>
          </p:nvPr>
        </p:nvSpPr>
        <p:spPr>
          <a:xfrm>
            <a:off x="1195475" y="1234350"/>
            <a:ext cx="5931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500"/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5E3FF"/>
      </a:accent1>
      <a:accent2>
        <a:srgbClr val="858EFF"/>
      </a:accent2>
      <a:accent3>
        <a:srgbClr val="FFB093"/>
      </a:accent3>
      <a:accent4>
        <a:srgbClr val="F3F3F3"/>
      </a:accent4>
      <a:accent5>
        <a:srgbClr val="FF0000"/>
      </a:accent5>
      <a:accent6>
        <a:srgbClr val="EEFF41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2556</Words>
  <Application>Microsoft Office PowerPoint</Application>
  <PresentationFormat>On-screen Show (16:9)</PresentationFormat>
  <Paragraphs>459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Hanken Grotesk</vt:lpstr>
      <vt:lpstr>Lexend Light</vt:lpstr>
      <vt:lpstr>Lexend</vt:lpstr>
      <vt:lpstr>Cambria</vt:lpstr>
      <vt:lpstr>Arial</vt:lpstr>
      <vt:lpstr>Lexend SemiBold</vt:lpstr>
      <vt:lpstr>Cambria Math</vt:lpstr>
      <vt:lpstr>Work Sans SemiBold</vt:lpstr>
      <vt:lpstr>Clean Slate</vt:lpstr>
      <vt:lpstr>PowerPoint Presentation</vt:lpstr>
      <vt:lpstr>Scope of the Project</vt:lpstr>
      <vt:lpstr>Introduction to Explainable AI with a Focus on Reliability</vt:lpstr>
      <vt:lpstr>Introduction to Explainable AI with a Focus on Reliability</vt:lpstr>
      <vt:lpstr>Introduction to Explainable AI with a Focus on Reliability</vt:lpstr>
      <vt:lpstr>Problem Statement </vt:lpstr>
      <vt:lpstr>Literature Survey</vt:lpstr>
      <vt:lpstr>Literature Survey</vt:lpstr>
      <vt:lpstr>Literature Survey</vt:lpstr>
      <vt:lpstr>Data Collection and Methodology</vt:lpstr>
      <vt:lpstr>Proposed Solution Overview</vt:lpstr>
      <vt:lpstr>Proposed Solution Overview</vt:lpstr>
      <vt:lpstr>Proposed Solution Overview</vt:lpstr>
      <vt:lpstr>Proposed Solution Overview</vt:lpstr>
      <vt:lpstr>Proposed Solution Overview</vt:lpstr>
      <vt:lpstr>Implementation:</vt:lpstr>
      <vt:lpstr> Implementation:</vt:lpstr>
      <vt:lpstr>Results Overview</vt:lpstr>
      <vt:lpstr>Results Overview</vt:lpstr>
      <vt:lpstr>Results Overview</vt:lpstr>
      <vt:lpstr>Results Overview</vt:lpstr>
      <vt:lpstr>Percentage of Work Completed &amp; Summary</vt:lpstr>
      <vt:lpstr>Next Steps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Udit Jain</cp:lastModifiedBy>
  <cp:revision>2</cp:revision>
  <dcterms:modified xsi:type="dcterms:W3CDTF">2025-11-13T06:39:25Z</dcterms:modified>
</cp:coreProperties>
</file>